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75" r:id="rId4"/>
    <p:sldId id="276" r:id="rId5"/>
    <p:sldId id="277" r:id="rId6"/>
    <p:sldId id="278" r:id="rId7"/>
    <p:sldId id="279" r:id="rId8"/>
    <p:sldId id="280" r:id="rId9"/>
    <p:sldId id="281" r:id="rId10"/>
    <p:sldId id="274" r:id="rId11"/>
  </p:sldIdLst>
  <p:sldSz cx="18288000" cy="10287000"/>
  <p:notesSz cx="6858000" cy="91440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Cambria" panose="02040503050406030204" pitchFamily="18" charset="0"/>
      <p:regular r:id="rId17"/>
      <p:bold r:id="rId18"/>
      <p:italic r:id="rId19"/>
      <p:boldItalic r:id="rId20"/>
    </p:embeddedFont>
    <p:embeddedFont>
      <p:font typeface="Roca Two Bold" panose="020B0604020202020204" charset="0"/>
      <p:regular r:id="rId21"/>
    </p:embeddedFont>
    <p:embeddedFont>
      <p:font typeface="Roca Two Heavy" panose="020B0604020202020204" charset="0"/>
      <p:regular r:id="rId22"/>
    </p:embeddedFont>
    <p:embeddedFont>
      <p:font typeface="TT Chocolates Bold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4" d="100"/>
          <a:sy n="54" d="100"/>
        </p:scale>
        <p:origin x="754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2B0BE1-19CB-465C-9D51-0D3E86F4FB3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41D504-B5CD-45F9-B8C4-2601419CBB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28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657B9-0044-4C06-B0A0-4414DFF0A397}" type="datetime1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Group 05, Shakil Ahmed, Fahim Foysal, Shefa Tabassum , Tanvir Ahmed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54F04-B6BF-4A6E-B52E-52F58816FE0C}" type="datetime1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Group 05, Shakil Ahmed, Fahim Foysal, Shefa Tabassum , Tanvir Ahmed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5B680-F0CF-463E-92F0-E54B6D1027B5}" type="datetime1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Group 05, Shakil Ahmed, Fahim Foysal, Shefa Tabassum , Tanvir Ahmed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A648B-082E-401F-8EB6-8CA1A94E5515}" type="datetime1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Group 05, Shakil Ahmed, Fahim Foysal, Shefa Tabassum , Tanvir Ahmed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1FBE6-E6F3-4C4B-8082-21FE5CD55602}" type="datetime1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Group 05, Shakil Ahmed, Fahim Foysal, Shefa Tabassum , Tanvir Ahmed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012EE-B8C4-4B77-8EC6-5281F4ABE468}" type="datetime1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Group 05, Shakil Ahmed, Fahim Foysal, Shefa Tabassum , Tanvir Ahmed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15FB5-6ECF-4F59-BC51-1752FF0E9E55}" type="datetime1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Group 05, Shakil Ahmed, Fahim Foysal, Shefa Tabassum , Tanvir Ahmed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5465A-15B7-4039-A4B2-21951620281B}" type="datetime1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Group 05, Shakil Ahmed, Fahim Foysal, Shefa Tabassum , Tanvir Ahmed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930E2-AA89-41CA-B928-650F39E1AA38}" type="datetime1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Group 05, Shakil Ahmed, Fahim Foysal, Shefa Tabassum , Tanvir Ahmed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B01351-CBE7-4442-B09C-71C138196C0B}" type="datetime1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Group 05, Shakil Ahmed, Fahim Foysal, Shefa Tabassum , Tanvir Ahmed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36C00-1C85-4A73-8B46-228F7F5F979B}" type="datetime1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Group 05, Shakil Ahmed, Fahim Foysal, Shefa Tabassum , Tanvir Ahmed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1D685A-A592-4B18-951C-27A0B1F6728B}" type="datetime1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Group 05, Shakil Ahmed, Fahim Foysal, Shefa Tabassum , Tanvir Ahmed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5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3" name="Group 3"/>
          <p:cNvGrpSpPr/>
          <p:nvPr/>
        </p:nvGrpSpPr>
        <p:grpSpPr>
          <a:xfrm>
            <a:off x="437308" y="431667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17075" y="1677898"/>
            <a:ext cx="16881501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7500" b="1" spc="-57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Autonomous Volcanic Terrain Exploration</a:t>
            </a:r>
          </a:p>
          <a:p>
            <a:pPr algn="l"/>
            <a:r>
              <a:rPr lang="en-US" sz="7500" b="1" spc="-570" dirty="0">
                <a:solidFill>
                  <a:schemeClr val="accent1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Using a Markov Decision Process (MDP)</a:t>
            </a:r>
          </a:p>
        </p:txBody>
      </p:sp>
      <p:sp>
        <p:nvSpPr>
          <p:cNvPr id="7" name="Freeform 7"/>
          <p:cNvSpPr/>
          <p:nvPr/>
        </p:nvSpPr>
        <p:spPr>
          <a:xfrm>
            <a:off x="15148710" y="5541274"/>
            <a:ext cx="1393548" cy="1440654"/>
          </a:xfrm>
          <a:custGeom>
            <a:avLst/>
            <a:gdLst/>
            <a:ahLst/>
            <a:cxnLst/>
            <a:rect l="l" t="t" r="r" b="b"/>
            <a:pathLst>
              <a:path w="1393548" h="1440654">
                <a:moveTo>
                  <a:pt x="0" y="0"/>
                </a:moveTo>
                <a:lnTo>
                  <a:pt x="1393548" y="0"/>
                </a:lnTo>
                <a:lnTo>
                  <a:pt x="1393548" y="1440654"/>
                </a:lnTo>
                <a:lnTo>
                  <a:pt x="0" y="14406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6462815"/>
            <a:ext cx="7486550" cy="2801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21"/>
              </a:lnSpc>
            </a:pPr>
            <a:r>
              <a:rPr lang="en-US" sz="3158" b="1" dirty="0">
                <a:solidFill>
                  <a:srgbClr val="000000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MEMBERS</a:t>
            </a:r>
          </a:p>
          <a:p>
            <a:pPr>
              <a:lnSpc>
                <a:spcPts val="4421"/>
              </a:lnSpc>
            </a:pPr>
            <a:r>
              <a:rPr lang="en-US" sz="3200" b="1" dirty="0">
                <a:latin typeface="TT Chocolates Bold" panose="020B0604020202020204" charset="0"/>
              </a:rPr>
              <a:t>Shakil Ahmed -2221452042</a:t>
            </a:r>
            <a:endParaRPr lang="en-US" sz="3158" b="1" dirty="0">
              <a:latin typeface="TT Chocolates Bold" panose="020B0604020202020204" charset="0"/>
              <a:ea typeface="TT Chocolates Bold"/>
              <a:cs typeface="TT Chocolates Bold"/>
              <a:sym typeface="TT Chocolates Bold"/>
            </a:endParaRPr>
          </a:p>
          <a:p>
            <a:pPr algn="l">
              <a:lnSpc>
                <a:spcPts val="4421"/>
              </a:lnSpc>
            </a:pPr>
            <a:r>
              <a:rPr lang="en-US" sz="3158" b="1" dirty="0">
                <a:solidFill>
                  <a:srgbClr val="000000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Fahim Foysal - 2233594642</a:t>
            </a:r>
          </a:p>
          <a:p>
            <a:pPr algn="l">
              <a:lnSpc>
                <a:spcPts val="4421"/>
              </a:lnSpc>
            </a:pPr>
            <a:r>
              <a:rPr lang="en-US" sz="3158" b="1" dirty="0">
                <a:solidFill>
                  <a:srgbClr val="000000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Shefa Tabassum- 2232993042</a:t>
            </a:r>
          </a:p>
          <a:p>
            <a:pPr>
              <a:lnSpc>
                <a:spcPts val="4421"/>
              </a:lnSpc>
            </a:pPr>
            <a:r>
              <a:rPr lang="en-US" sz="3200" dirty="0">
                <a:latin typeface="TT Chocolates Bold" panose="020B0604020202020204" charset="0"/>
              </a:rPr>
              <a:t>Tanvir Ahmed-2231047642</a:t>
            </a:r>
            <a:endParaRPr lang="en-US" sz="3158" b="1" dirty="0">
              <a:latin typeface="TT Chocolates Bold" panose="020B0604020202020204" charset="0"/>
              <a:ea typeface="TT Chocolates Bold"/>
              <a:cs typeface="TT Chocolates Bold"/>
              <a:sym typeface="TT Chocolates Bold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17075" y="4697333"/>
            <a:ext cx="5394385" cy="7441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02"/>
              </a:lnSpc>
            </a:pPr>
            <a:r>
              <a:rPr lang="en-US" sz="6344" b="1" spc="-482" dirty="0">
                <a:solidFill>
                  <a:srgbClr val="1D348A"/>
                </a:solidFill>
                <a:latin typeface="Roca Two Bold"/>
                <a:ea typeface="Roca Two Bold"/>
                <a:cs typeface="Roca Two Bold"/>
                <a:sym typeface="Roca Two Bold"/>
              </a:rPr>
              <a:t>CSE440.01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8700" y="5780767"/>
            <a:ext cx="1960171" cy="359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41"/>
              </a:lnSpc>
            </a:pPr>
            <a:r>
              <a:rPr lang="en-US" sz="3099" b="1" spc="-235" dirty="0">
                <a:solidFill>
                  <a:srgbClr val="1D348A"/>
                </a:solidFill>
                <a:latin typeface="Roca Two Bold"/>
                <a:ea typeface="Roca Two Bold"/>
                <a:cs typeface="Roca Two Bold"/>
                <a:sym typeface="Roca Two Bold"/>
              </a:rPr>
              <a:t>GROUP 05 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F768FA2E-A9E4-46C0-8F9B-53E392275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3771" y="10021413"/>
            <a:ext cx="5410199" cy="132177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Group 05, Shakil Ahmed, Fahim </a:t>
            </a:r>
            <a:r>
              <a:rPr lang="en-US" dirty="0" err="1">
                <a:solidFill>
                  <a:schemeClr val="tx1"/>
                </a:solidFill>
              </a:rPr>
              <a:t>Foysal</a:t>
            </a:r>
            <a:r>
              <a:rPr lang="en-US" dirty="0">
                <a:solidFill>
                  <a:schemeClr val="tx1"/>
                </a:solidFill>
              </a:rPr>
              <a:t>, Shefa Tabassum , Tanvir Ahmed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151999" y="1662831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5000" b="1" spc="-38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The Problem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025428" y="2951332"/>
            <a:ext cx="9200000" cy="6078367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Volcanic terrain is too dangerous for humans to explore directly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The rover must collect science samples and survive the mission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Lava is fatal; craters and gas are costly; rock blocks movement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Movement is unreliable; the rover can slip sideways or stall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The terrain itself changes while the mission is running</a:t>
            </a:r>
          </a:p>
        </p:txBody>
      </p:sp>
      <p:pic>
        <p:nvPicPr>
          <p:cNvPr id="102" name="Hazard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25429" y="2778610"/>
            <a:ext cx="6713383" cy="5892779"/>
          </a:xfrm>
          <a:prstGeom prst="rect">
            <a:avLst/>
          </a:prstGeom>
          <a:ln w="12700">
            <a:solidFill>
              <a:srgbClr val="162768"/>
            </a:solidFill>
          </a:ln>
        </p:spPr>
      </p:pic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A0C61134-E94D-43BC-81A5-B70E87978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8766" y="9995822"/>
            <a:ext cx="4699034" cy="248894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Group 05, Shakil Ahmed, Fahim </a:t>
            </a:r>
            <a:r>
              <a:rPr lang="en-US" dirty="0" err="1">
                <a:solidFill>
                  <a:schemeClr val="tx1"/>
                </a:solidFill>
              </a:rPr>
              <a:t>Foysal</a:t>
            </a:r>
            <a:r>
              <a:rPr lang="en-US" dirty="0">
                <a:solidFill>
                  <a:schemeClr val="tx1"/>
                </a:solidFill>
              </a:rPr>
              <a:t>, Shefa Tabassum , Tanvir Ahmed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177399" y="1731201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5000" b="1" spc="-38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What Is an MDP?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001159" y="2951333"/>
            <a:ext cx="9200000" cy="5945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A Markov Decision Process models decision-making under uncertainty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An agent picks actions to maximize long-term reward, not just the next step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The next state depends only on the current state and action taken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Here: states = grid cells, actions = moves, rewards = safety + science</a:t>
            </a:r>
          </a:p>
        </p:txBody>
      </p:sp>
      <p:sp>
        <p:nvSpPr>
          <p:cNvPr id="102" name="Flow 102"/>
          <p:cNvSpPr/>
          <p:nvPr/>
        </p:nvSpPr>
        <p:spPr>
          <a:xfrm>
            <a:off x="10725429" y="3255000"/>
            <a:ext cx="6713383" cy="95000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en-US" sz="1900" b="1" dirty="0">
                <a:solidFill>
                  <a:srgbClr val="1D348A"/>
                </a:solidFill>
                <a:latin typeface="Calibri"/>
                <a:cs typeface="Calibri"/>
              </a:rPr>
              <a:t>Agent observes the STATE</a:t>
            </a:r>
          </a:p>
        </p:txBody>
      </p:sp>
      <p:sp>
        <p:nvSpPr>
          <p:cNvPr id="103" name="Arrow 103"/>
          <p:cNvSpPr txBox="1"/>
          <p:nvPr/>
        </p:nvSpPr>
        <p:spPr>
          <a:xfrm>
            <a:off x="13882120" y="4205000"/>
            <a:ext cx="400000" cy="380000"/>
          </a:xfrm>
          <a:prstGeom prst="rect">
            <a:avLst/>
          </a:prstGeom>
        </p:spPr>
        <p:txBody>
          <a:bodyPr wrap="square" lIns="0" tIns="0" rIns="0" bIns="0" anchor="ctr"/>
          <a:lstStyle/>
          <a:p>
            <a:pPr algn="ctr"/>
            <a:r>
              <a:rPr lang="en-US" sz="2400" b="1" dirty="0">
                <a:solidFill>
                  <a:srgbClr val="162768"/>
                </a:solidFill>
              </a:rPr>
              <a:t>↓</a:t>
            </a:r>
          </a:p>
        </p:txBody>
      </p:sp>
      <p:sp>
        <p:nvSpPr>
          <p:cNvPr id="104" name="Flow 104"/>
          <p:cNvSpPr/>
          <p:nvPr/>
        </p:nvSpPr>
        <p:spPr>
          <a:xfrm>
            <a:off x="10725429" y="4585000"/>
            <a:ext cx="6713383" cy="95000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en-US" sz="1900" b="1" dirty="0">
                <a:solidFill>
                  <a:srgbClr val="1D348A"/>
                </a:solidFill>
                <a:latin typeface="Calibri"/>
                <a:cs typeface="Calibri"/>
              </a:rPr>
              <a:t>Policy chooses an ACTION</a:t>
            </a:r>
          </a:p>
        </p:txBody>
      </p:sp>
      <p:sp>
        <p:nvSpPr>
          <p:cNvPr id="105" name="Arrow 105"/>
          <p:cNvSpPr txBox="1"/>
          <p:nvPr/>
        </p:nvSpPr>
        <p:spPr>
          <a:xfrm>
            <a:off x="13882120" y="5535000"/>
            <a:ext cx="400000" cy="380000"/>
          </a:xfrm>
          <a:prstGeom prst="rect">
            <a:avLst/>
          </a:prstGeom>
        </p:spPr>
        <p:txBody>
          <a:bodyPr wrap="square" lIns="0" tIns="0" rIns="0" bIns="0" anchor="ctr"/>
          <a:lstStyle/>
          <a:p>
            <a:pPr algn="ctr"/>
            <a:r>
              <a:rPr lang="en-US" sz="2400" b="1" dirty="0">
                <a:solidFill>
                  <a:srgbClr val="162768"/>
                </a:solidFill>
              </a:rPr>
              <a:t>↓</a:t>
            </a:r>
          </a:p>
        </p:txBody>
      </p:sp>
      <p:sp>
        <p:nvSpPr>
          <p:cNvPr id="106" name="Flow 106"/>
          <p:cNvSpPr/>
          <p:nvPr/>
        </p:nvSpPr>
        <p:spPr>
          <a:xfrm>
            <a:off x="10725429" y="5915000"/>
            <a:ext cx="6713383" cy="95000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en-US" sz="1900" b="1" dirty="0">
                <a:solidFill>
                  <a:srgbClr val="1D348A"/>
                </a:solidFill>
                <a:latin typeface="Calibri"/>
                <a:cs typeface="Calibri"/>
              </a:rPr>
              <a:t>Environment returns REWARD + next STATE</a:t>
            </a:r>
          </a:p>
        </p:txBody>
      </p:sp>
      <p:sp>
        <p:nvSpPr>
          <p:cNvPr id="107" name="Arrow 107"/>
          <p:cNvSpPr txBox="1"/>
          <p:nvPr/>
        </p:nvSpPr>
        <p:spPr>
          <a:xfrm>
            <a:off x="13882120" y="6865000"/>
            <a:ext cx="400000" cy="380000"/>
          </a:xfrm>
          <a:prstGeom prst="rect">
            <a:avLst/>
          </a:prstGeom>
        </p:spPr>
        <p:txBody>
          <a:bodyPr wrap="square" lIns="0" tIns="0" rIns="0" bIns="0" anchor="ctr"/>
          <a:lstStyle/>
          <a:p>
            <a:pPr algn="ctr"/>
            <a:r>
              <a:rPr lang="en-US" sz="2400" b="1" dirty="0">
                <a:solidFill>
                  <a:srgbClr val="162768"/>
                </a:solidFill>
              </a:rPr>
              <a:t>↓</a:t>
            </a:r>
          </a:p>
        </p:txBody>
      </p:sp>
      <p:sp>
        <p:nvSpPr>
          <p:cNvPr id="108" name="Flow 108"/>
          <p:cNvSpPr/>
          <p:nvPr/>
        </p:nvSpPr>
        <p:spPr>
          <a:xfrm>
            <a:off x="10725429" y="7245000"/>
            <a:ext cx="6713383" cy="95000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en-US" sz="1900" b="1" dirty="0">
                <a:solidFill>
                  <a:srgbClr val="1D348A"/>
                </a:solidFill>
                <a:latin typeface="Calibri"/>
                <a:cs typeface="Calibri"/>
              </a:rPr>
              <a:t>Repeat until the mission ends</a:t>
            </a:r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923E0FEB-BA7C-4C4B-9C65-C43DAF83F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9188" y="9959412"/>
            <a:ext cx="4832412" cy="285304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Group 05, Shakil Ahmed, Fahim </a:t>
            </a:r>
            <a:r>
              <a:rPr lang="en-US" dirty="0" err="1">
                <a:solidFill>
                  <a:schemeClr val="tx1"/>
                </a:solidFill>
              </a:rPr>
              <a:t>Foysal</a:t>
            </a:r>
            <a:r>
              <a:rPr lang="en-US" dirty="0">
                <a:solidFill>
                  <a:schemeClr val="tx1"/>
                </a:solidFill>
              </a:rPr>
              <a:t>, Shefa Tabassum , Tanvir Ahmed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101629" y="1944071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5000" b="1" spc="-38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The MDP Formulation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063529" y="3333451"/>
            <a:ext cx="9200000" cy="48747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States: every walkable grid cell (rock excluded)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Actions: up / down / left / right / stay / scan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Transitions: 75% intended, 10% drift each side, 5% stall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Rewards: science +20, base +5, safe −1, gas −15, crater −40, lava −100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Solved exactly with value iteration</a:t>
            </a:r>
          </a:p>
        </p:txBody>
      </p:sp>
      <p:sp>
        <p:nvSpPr>
          <p:cNvPr id="102" name="Bellman Card"/>
          <p:cNvSpPr/>
          <p:nvPr/>
        </p:nvSpPr>
        <p:spPr>
          <a:xfrm>
            <a:off x="10725429" y="4525000"/>
            <a:ext cx="6713383" cy="240000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228600" tIns="228600" rIns="228600" bIns="228600" anchor="ctr"/>
          <a:lstStyle/>
          <a:p>
            <a:pPr algn="ctr"/>
            <a:r>
              <a:rPr lang="en-US" sz="2400" b="1" i="1" dirty="0">
                <a:solidFill>
                  <a:srgbClr val="1D348A"/>
                </a:solidFill>
                <a:latin typeface="Cambria"/>
                <a:cs typeface="Cambria"/>
              </a:rPr>
              <a:t>V(s) = max_a Σ P(s'|s,a) [R(s,a,s') + γV(s')]</a:t>
            </a:r>
          </a:p>
          <a:p>
            <a:pPr algn="ctr">
              <a:spcBef>
                <a:spcPts val="1400"/>
              </a:spcBef>
            </a:pPr>
            <a:r>
              <a:rPr lang="en-US" sz="1600" i="1" dirty="0">
                <a:solidFill>
                  <a:srgbClr val="0E1943"/>
                </a:solidFill>
                <a:latin typeface="Calibri"/>
                <a:cs typeface="Calibri"/>
              </a:rPr>
              <a:t>The Bellman backup, repeated until convergence</a:t>
            </a:r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FAAA221-51A0-434C-8BCE-46A07577E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5904" y="9983224"/>
            <a:ext cx="5199096" cy="194249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Group 05, Shakil Ahmed, Fahim </a:t>
            </a:r>
            <a:r>
              <a:rPr lang="en-US" dirty="0" err="1">
                <a:solidFill>
                  <a:schemeClr val="tx1"/>
                </a:solidFill>
              </a:rPr>
              <a:t>Foysal</a:t>
            </a:r>
            <a:r>
              <a:rPr lang="en-US" dirty="0">
                <a:solidFill>
                  <a:schemeClr val="tx1"/>
                </a:solidFill>
              </a:rPr>
              <a:t>, Shefa Tabassum , Tanvir Ahmed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373319" y="1306139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5000" b="1" spc="-38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The Computed Policy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pic>
        <p:nvPicPr>
          <p:cNvPr id="101" name="Policy Map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429" y="2425000"/>
            <a:ext cx="7291501" cy="6600000"/>
          </a:xfrm>
          <a:prstGeom prst="rect">
            <a:avLst/>
          </a:prstGeom>
          <a:ln w="12700">
            <a:solidFill>
              <a:srgbClr val="162768"/>
            </a:solidFill>
          </a:ln>
        </p:spPr>
      </p:pic>
      <p:sp>
        <p:nvSpPr>
          <p:cNvPr id="102" name="Body 102"/>
          <p:cNvSpPr txBox="1"/>
          <p:nvPr/>
        </p:nvSpPr>
        <p:spPr>
          <a:xfrm>
            <a:off x="8930173" y="3096375"/>
            <a:ext cx="8621882" cy="5095125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8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One optimal action per cell: a complete plan, not one path</a:t>
            </a:r>
          </a:p>
          <a:p>
            <a:pPr marL="342900" indent="-342900" algn="l">
              <a:lnSpc>
                <a:spcPct val="130000"/>
              </a:lnSpc>
              <a:spcAft>
                <a:spcPts val="28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The flow bends around lava and craters, converging on science and base</a:t>
            </a:r>
          </a:p>
          <a:p>
            <a:pPr marL="342900" indent="-342900" algn="l">
              <a:lnSpc>
                <a:spcPct val="130000"/>
              </a:lnSpc>
              <a:spcAft>
                <a:spcPts val="28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Robust by construction, even if a slip lands on a cell that already has a plan</a:t>
            </a:r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DF37DF5-33FF-4047-A277-DF1AFCDDF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8712" y="9959412"/>
            <a:ext cx="4822887" cy="285304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Group 05, Shakil Ahmed, Fahim </a:t>
            </a:r>
            <a:r>
              <a:rPr lang="en-US" dirty="0" err="1">
                <a:solidFill>
                  <a:schemeClr val="tx1"/>
                </a:solidFill>
              </a:rPr>
              <a:t>Foysal</a:t>
            </a:r>
            <a:r>
              <a:rPr lang="en-US" dirty="0">
                <a:solidFill>
                  <a:schemeClr val="tx1"/>
                </a:solidFill>
              </a:rPr>
              <a:t>, Shefa Tabassum , Tanvir Ahmed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373319" y="1306139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4600" b="1" spc="-38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Adaptive Behavior: Re-Planning &amp; Hazards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025429" y="2778610"/>
            <a:ext cx="9200000" cy="5691817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Collect-once rule: a sample is gathered once, then the cell resets to safe ground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The agent instantly re-runs value iteration after every collection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Gas drifts (15% per step) and lava spreads (8% per step) into safe neighbors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Any terrain change triggers a fresh re-plan; a lava flow reaching the rover ends the mission</a:t>
            </a:r>
          </a:p>
        </p:txBody>
      </p:sp>
      <p:pic>
        <p:nvPicPr>
          <p:cNvPr id="102" name="Hazards Af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25429" y="2778610"/>
            <a:ext cx="6713383" cy="5892779"/>
          </a:xfrm>
          <a:prstGeom prst="rect">
            <a:avLst/>
          </a:prstGeom>
          <a:ln w="12700">
            <a:solidFill>
              <a:srgbClr val="162768"/>
            </a:solidFill>
          </a:ln>
        </p:spPr>
      </p:pic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666E767-FD4C-41AC-99E1-3E7A57E50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0666" y="10062152"/>
            <a:ext cx="4889534" cy="182563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Group 05, Shakil Ahmed, Fahim </a:t>
            </a:r>
            <a:r>
              <a:rPr lang="en-US" dirty="0" err="1">
                <a:solidFill>
                  <a:schemeClr val="tx1"/>
                </a:solidFill>
              </a:rPr>
              <a:t>Foysal</a:t>
            </a:r>
            <a:r>
              <a:rPr lang="en-US" dirty="0">
                <a:solidFill>
                  <a:schemeClr val="tx1"/>
                </a:solidFill>
              </a:rPr>
              <a:t>, Shefa Tabassum , Tanvir Ahmed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373319" y="1306139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5000" b="1" spc="-38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A Completed Mission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pic>
        <p:nvPicPr>
          <p:cNvPr id="101" name="Final Map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0653" y="2250000"/>
            <a:ext cx="7102935" cy="5180000"/>
          </a:xfrm>
          <a:prstGeom prst="rect">
            <a:avLst/>
          </a:prstGeom>
          <a:ln w="12700">
            <a:solidFill>
              <a:srgbClr val="162768"/>
            </a:solidFill>
          </a:ln>
        </p:spPr>
      </p:pic>
      <p:sp>
        <p:nvSpPr>
          <p:cNvPr id="102" name="Caption"/>
          <p:cNvSpPr txBox="1"/>
          <p:nvPr/>
        </p:nvSpPr>
        <p:spPr>
          <a:xfrm>
            <a:off x="1025429" y="7600000"/>
            <a:ext cx="16413383" cy="380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algn="ctr"/>
            <a:r>
              <a:rPr lang="en-US" sz="1800" i="1" dirty="0">
                <a:solidFill>
                  <a:srgbClr val="0E1943"/>
                </a:solidFill>
                <a:latin typeface="Calibri"/>
                <a:cs typeface="Calibri"/>
              </a:rPr>
              <a:t>Seed 42, dynamic hazards ON</a:t>
            </a:r>
          </a:p>
        </p:txBody>
      </p:sp>
      <p:sp>
        <p:nvSpPr>
          <p:cNvPr id="103" name="Stat 103"/>
          <p:cNvSpPr txBox="1"/>
          <p:nvPr/>
        </p:nvSpPr>
        <p:spPr>
          <a:xfrm>
            <a:off x="1025429" y="8150000"/>
            <a:ext cx="5137794" cy="1050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algn="ctr"/>
            <a:r>
              <a:rPr lang="en-US" sz="5000" b="1" dirty="0">
                <a:solidFill>
                  <a:srgbClr val="1D348A"/>
                </a:solidFill>
                <a:latin typeface="Cambria"/>
                <a:cs typeface="Cambria"/>
              </a:rPr>
              <a:t>24</a:t>
            </a:r>
          </a:p>
          <a:p>
            <a:pPr algn="ctr"/>
            <a:r>
              <a:rPr lang="en-US" sz="1700" dirty="0">
                <a:solidFill>
                  <a:srgbClr val="0E1943"/>
                </a:solidFill>
                <a:latin typeface="Calibri"/>
                <a:cs typeface="Calibri"/>
              </a:rPr>
              <a:t>Steps Taken</a:t>
            </a:r>
          </a:p>
        </p:txBody>
      </p:sp>
      <p:sp>
        <p:nvSpPr>
          <p:cNvPr id="104" name="Stat 104"/>
          <p:cNvSpPr txBox="1"/>
          <p:nvPr/>
        </p:nvSpPr>
        <p:spPr>
          <a:xfrm>
            <a:off x="6663223" y="8150000"/>
            <a:ext cx="5137794" cy="1050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algn="ctr"/>
            <a:r>
              <a:rPr lang="en-US" sz="5000" b="1" dirty="0">
                <a:solidFill>
                  <a:srgbClr val="1D348A"/>
                </a:solidFill>
                <a:latin typeface="Cambria"/>
                <a:cs typeface="Cambria"/>
              </a:rPr>
              <a:t>2</a:t>
            </a:r>
          </a:p>
          <a:p>
            <a:pPr algn="ctr"/>
            <a:r>
              <a:rPr lang="en-US" sz="1700" dirty="0">
                <a:solidFill>
                  <a:srgbClr val="0E1943"/>
                </a:solidFill>
                <a:latin typeface="Calibri"/>
                <a:cs typeface="Calibri"/>
              </a:rPr>
              <a:t>Science Samples Collected</a:t>
            </a:r>
          </a:p>
        </p:txBody>
      </p:sp>
      <p:sp>
        <p:nvSpPr>
          <p:cNvPr id="105" name="Stat 105"/>
          <p:cNvSpPr txBox="1"/>
          <p:nvPr/>
        </p:nvSpPr>
        <p:spPr>
          <a:xfrm>
            <a:off x="12301017" y="8150000"/>
            <a:ext cx="5137794" cy="1050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algn="ctr"/>
            <a:r>
              <a:rPr lang="en-US" sz="5000" b="1" dirty="0">
                <a:solidFill>
                  <a:srgbClr val="1D348A"/>
                </a:solidFill>
                <a:latin typeface="Cambria"/>
                <a:cs typeface="Cambria"/>
              </a:rPr>
              <a:t>71</a:t>
            </a:r>
          </a:p>
          <a:p>
            <a:pPr algn="ctr"/>
            <a:r>
              <a:rPr lang="en-US" sz="1700" dirty="0">
                <a:solidFill>
                  <a:srgbClr val="0E1943"/>
                </a:solidFill>
                <a:latin typeface="Calibri"/>
                <a:cs typeface="Calibri"/>
              </a:rPr>
              <a:t>Hazard Events Survived</a:t>
            </a:r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A022A323-9752-407F-9DB4-D87554D9C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4479" y="10027014"/>
            <a:ext cx="5136174" cy="217702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Group 05, Shakil Ahmed, Fahim </a:t>
            </a:r>
            <a:r>
              <a:rPr lang="en-US" dirty="0" err="1">
                <a:solidFill>
                  <a:schemeClr val="tx1"/>
                </a:solidFill>
              </a:rPr>
              <a:t>Foysal</a:t>
            </a:r>
            <a:r>
              <a:rPr lang="en-US" dirty="0">
                <a:solidFill>
                  <a:schemeClr val="tx1"/>
                </a:solidFill>
              </a:rPr>
              <a:t>, Shefa Tabassum , Tanvir Ahmed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295400" y="1946604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4600" b="1" spc="-38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Planning Beats Heuristics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139299" y="3533490"/>
            <a:ext cx="9200000" cy="4504408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6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20 random terrains, three agents: MDP, Greedy, Random</a:t>
            </a:r>
          </a:p>
          <a:p>
            <a:pPr marL="342900" indent="-342900" algn="l">
              <a:lnSpc>
                <a:spcPct val="130000"/>
              </a:lnSpc>
              <a:spcAft>
                <a:spcPts val="26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Only the MDP agent earns a positive reward: +42 vs −124 vs −180</a:t>
            </a:r>
          </a:p>
          <a:p>
            <a:pPr marL="342900" indent="-342900" algn="l">
              <a:lnSpc>
                <a:spcPct val="130000"/>
              </a:lnSpc>
              <a:spcAft>
                <a:spcPts val="26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MDP survives 60% of missions, double the greedy baseline</a:t>
            </a:r>
          </a:p>
          <a:p>
            <a:pPr marL="342900" indent="-342900" algn="l">
              <a:lnSpc>
                <a:spcPct val="130000"/>
              </a:lnSpc>
              <a:spcAft>
                <a:spcPts val="26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Roughly 5× fewer hazard entries than either baseline</a:t>
            </a:r>
          </a:p>
        </p:txBody>
      </p:sp>
      <p:pic>
        <p:nvPicPr>
          <p:cNvPr id="102" name="Performance Plo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25429" y="3039647"/>
            <a:ext cx="6713383" cy="5370706"/>
          </a:xfrm>
          <a:prstGeom prst="rect">
            <a:avLst/>
          </a:prstGeom>
          <a:ln w="12700">
            <a:solidFill>
              <a:srgbClr val="162768"/>
            </a:solidFill>
          </a:ln>
        </p:spPr>
      </p:pic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B076ED8-E039-4811-B4D4-E2CCCDC5C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5428" y="10002240"/>
            <a:ext cx="5037171" cy="175234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Group 05, Shakil Ahmed, Fahim </a:t>
            </a:r>
            <a:r>
              <a:rPr lang="en-US" dirty="0" err="1">
                <a:solidFill>
                  <a:schemeClr val="tx1"/>
                </a:solidFill>
              </a:rPr>
              <a:t>Foysal</a:t>
            </a:r>
            <a:r>
              <a:rPr lang="en-US" dirty="0">
                <a:solidFill>
                  <a:schemeClr val="tx1"/>
                </a:solidFill>
              </a:rPr>
              <a:t>, Shefa Tabassum , Tanvir Ahmed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139299" y="2007329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4600" b="1" spc="-38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Conclusions &amp; Future Work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038129" y="3185631"/>
            <a:ext cx="9200000" cy="4875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Decision-theoretic planning decisively beats simple heuristics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Safety and science behavior emerge from the reward model alone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Future: risk-sensitive objectives, energy budgets, multi-rover teams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Everything is seeded and reproducible: python main.py</a:t>
            </a:r>
          </a:p>
        </p:txBody>
      </p:sp>
      <p:sp>
        <p:nvSpPr>
          <p:cNvPr id="102" name="Quote Card"/>
          <p:cNvSpPr/>
          <p:nvPr/>
        </p:nvSpPr>
        <p:spPr>
          <a:xfrm>
            <a:off x="10725429" y="4325000"/>
            <a:ext cx="6713383" cy="280000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228600" tIns="228600" rIns="228600" bIns="228600" anchor="ctr"/>
          <a:lstStyle/>
          <a:p>
            <a:pPr algn="ctr"/>
            <a:r>
              <a:rPr lang="en-US" sz="2800" b="1" i="1" dirty="0">
                <a:solidFill>
                  <a:srgbClr val="1D348A"/>
                </a:solidFill>
                <a:latin typeface="Cambria"/>
                <a:cs typeface="Cambria"/>
              </a:rPr>
              <a:t>“The reward model is the specification.”</a:t>
            </a:r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DEBB876C-02B5-4CEE-AD11-95E4B0801C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5428" y="10062152"/>
            <a:ext cx="4656171" cy="182563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Group 05, Shakil Ahmed, Fahim </a:t>
            </a:r>
            <a:r>
              <a:rPr lang="en-US" dirty="0" err="1">
                <a:solidFill>
                  <a:schemeClr val="tx1"/>
                </a:solidFill>
              </a:rPr>
              <a:t>Foysal</a:t>
            </a:r>
            <a:r>
              <a:rPr lang="en-US" dirty="0">
                <a:solidFill>
                  <a:schemeClr val="tx1"/>
                </a:solidFill>
              </a:rPr>
              <a:t>, Shefa Tabassum , Tanvir Ahmed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437308" y="41533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606054" y="3920448"/>
            <a:ext cx="9895170" cy="5951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139"/>
              </a:lnSpc>
            </a:pPr>
            <a:r>
              <a:rPr lang="en-US" sz="27000" b="1" spc="-2052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Thank You!</a:t>
            </a:r>
          </a:p>
        </p:txBody>
      </p:sp>
      <p:sp>
        <p:nvSpPr>
          <p:cNvPr id="7" name="Freeform 7"/>
          <p:cNvSpPr/>
          <p:nvPr/>
        </p:nvSpPr>
        <p:spPr>
          <a:xfrm>
            <a:off x="7769451" y="6504738"/>
            <a:ext cx="2048459" cy="2117703"/>
          </a:xfrm>
          <a:custGeom>
            <a:avLst/>
            <a:gdLst/>
            <a:ahLst/>
            <a:cxnLst/>
            <a:rect l="l" t="t" r="r" b="b"/>
            <a:pathLst>
              <a:path w="2048459" h="2117703">
                <a:moveTo>
                  <a:pt x="0" y="0"/>
                </a:moveTo>
                <a:lnTo>
                  <a:pt x="2048459" y="0"/>
                </a:lnTo>
                <a:lnTo>
                  <a:pt x="2048459" y="2117703"/>
                </a:lnTo>
                <a:lnTo>
                  <a:pt x="0" y="211770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15168" y="4821360"/>
            <a:ext cx="644280" cy="64428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223482" y="4922445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3" y="0"/>
                </a:lnTo>
                <a:lnTo>
                  <a:pt x="427653" y="442110"/>
                </a:lnTo>
                <a:lnTo>
                  <a:pt x="0" y="4421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2" name="Group 12"/>
          <p:cNvGrpSpPr/>
          <p:nvPr/>
        </p:nvGrpSpPr>
        <p:grpSpPr>
          <a:xfrm>
            <a:off x="17528552" y="4821360"/>
            <a:ext cx="644280" cy="644280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17636865" y="4922445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3" y="0"/>
                </a:lnTo>
                <a:lnTo>
                  <a:pt x="427653" y="442110"/>
                </a:lnTo>
                <a:lnTo>
                  <a:pt x="0" y="4421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52698CA-C525-49C2-A5AB-A6E891306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3482" y="9942217"/>
            <a:ext cx="4729518" cy="344783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Group 05, Shakil Ahmed, Fahim </a:t>
            </a:r>
            <a:r>
              <a:rPr lang="en-US" dirty="0" err="1">
                <a:solidFill>
                  <a:schemeClr val="tx1"/>
                </a:solidFill>
              </a:rPr>
              <a:t>Foysal</a:t>
            </a:r>
            <a:r>
              <a:rPr lang="en-US" dirty="0">
                <a:solidFill>
                  <a:schemeClr val="tx1"/>
                </a:solidFill>
              </a:rPr>
              <a:t>, Shefa Tabassum , Tanvir Ahmed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655</Words>
  <Application>Microsoft Office PowerPoint</Application>
  <PresentationFormat>Custom</PresentationFormat>
  <Paragraphs>82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Calibri</vt:lpstr>
      <vt:lpstr>Roca Two Bold</vt:lpstr>
      <vt:lpstr>Cambria</vt:lpstr>
      <vt:lpstr>Roca Two Heavy</vt:lpstr>
      <vt:lpstr>TT Chocolates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novelty_cse465</dc:title>
  <dc:creator>Shefa</dc:creator>
  <cp:lastModifiedBy>SHEFA TABASSUM</cp:lastModifiedBy>
  <cp:revision>5</cp:revision>
  <dcterms:created xsi:type="dcterms:W3CDTF">2006-08-16T00:00:00Z</dcterms:created>
  <dcterms:modified xsi:type="dcterms:W3CDTF">2026-08-27T04:10:42Z</dcterms:modified>
  <dc:identifier>DAHTZKdpcTQ</dc:identifier>
</cp:coreProperties>
</file>