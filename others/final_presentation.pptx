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74" r:id="rId11"/>
  </p:sldIdLst>
  <p:sldSz cx="18288000" cy="10287000"/>
  <p:notesSz cx="6858000" cy="9144000"/>
  <p:embeddedFontLst>
    <p:embeddedFont>
      <p:font typeface="Cambria" panose="02040503050406030204" pitchFamily="18" charset="0"/>
      <p:regular r:id="rId12"/>
      <p:bold r:id="rId13"/>
      <p:italic r:id="rId14"/>
      <p:boldItalic r:id="rId15"/>
    </p:embeddedFont>
    <p:embeddedFont>
      <p:font typeface="Roca Two Bold" panose="020B0604020202020204" charset="0"/>
      <p:regular r:id="rId16"/>
    </p:embeddedFont>
    <p:embeddedFont>
      <p:font typeface="Roca Two Heavy" panose="020B0604020202020204" charset="0"/>
      <p:regular r:id="rId17"/>
    </p:embeddedFont>
    <p:embeddedFont>
      <p:font typeface="TT Chocolates Bold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37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3" name="Group 3"/>
          <p:cNvGrpSpPr/>
          <p:nvPr/>
        </p:nvGrpSpPr>
        <p:grpSpPr>
          <a:xfrm>
            <a:off x="437308" y="431667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7075" y="1677898"/>
            <a:ext cx="16881501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7500" b="1" spc="-57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Autonomous Volcanic Terrain Exploration</a:t>
            </a:r>
          </a:p>
          <a:p>
            <a:pPr algn="l"/>
            <a:r>
              <a:rPr lang="en-US" sz="7500" b="1" spc="-570" dirty="0">
                <a:solidFill>
                  <a:schemeClr val="accent1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Using a Markov Decision Process (MDP)</a:t>
            </a:r>
          </a:p>
        </p:txBody>
      </p:sp>
      <p:sp>
        <p:nvSpPr>
          <p:cNvPr id="7" name="Freeform 7"/>
          <p:cNvSpPr/>
          <p:nvPr/>
        </p:nvSpPr>
        <p:spPr>
          <a:xfrm>
            <a:off x="15148710" y="5541274"/>
            <a:ext cx="1393548" cy="1440654"/>
          </a:xfrm>
          <a:custGeom>
            <a:avLst/>
            <a:gdLst/>
            <a:ahLst/>
            <a:cxnLst/>
            <a:rect l="l" t="t" r="r" b="b"/>
            <a:pathLst>
              <a:path w="1393548" h="1440654">
                <a:moveTo>
                  <a:pt x="0" y="0"/>
                </a:moveTo>
                <a:lnTo>
                  <a:pt x="1393548" y="0"/>
                </a:lnTo>
                <a:lnTo>
                  <a:pt x="1393548" y="1440654"/>
                </a:lnTo>
                <a:lnTo>
                  <a:pt x="0" y="14406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6462815"/>
            <a:ext cx="7486550" cy="2801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21"/>
              </a:lnSpc>
            </a:pPr>
            <a:r>
              <a:rPr lang="en-US" sz="3158" b="1" dirty="0">
                <a:solidFill>
                  <a:srgbClr val="000000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MEMBERS</a:t>
            </a:r>
          </a:p>
          <a:p>
            <a:pPr>
              <a:lnSpc>
                <a:spcPts val="4421"/>
              </a:lnSpc>
            </a:pPr>
            <a:r>
              <a:rPr lang="en-US" sz="3200" b="1" dirty="0">
                <a:latin typeface="TT Chocolates Bold" panose="020B0604020202020204" charset="0"/>
              </a:rPr>
              <a:t>Shakil Ahmed -2221452042</a:t>
            </a:r>
            <a:endParaRPr lang="en-US" sz="3158" b="1" dirty="0">
              <a:latin typeface="TT Chocolates Bold" panose="020B0604020202020204" charset="0"/>
              <a:ea typeface="TT Chocolates Bold"/>
              <a:cs typeface="TT Chocolates Bold"/>
              <a:sym typeface="TT Chocolates Bold"/>
            </a:endParaRPr>
          </a:p>
          <a:p>
            <a:pPr algn="l">
              <a:lnSpc>
                <a:spcPts val="4421"/>
              </a:lnSpc>
            </a:pPr>
            <a:r>
              <a:rPr lang="en-US" sz="3158" b="1" dirty="0">
                <a:solidFill>
                  <a:srgbClr val="000000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Fahim Foysal - 2233594642</a:t>
            </a:r>
          </a:p>
          <a:p>
            <a:pPr algn="l">
              <a:lnSpc>
                <a:spcPts val="4421"/>
              </a:lnSpc>
            </a:pPr>
            <a:r>
              <a:rPr lang="en-US" sz="3158" b="1" dirty="0">
                <a:solidFill>
                  <a:srgbClr val="000000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Shefa Tabassum- 2232993042</a:t>
            </a:r>
          </a:p>
          <a:p>
            <a:pPr>
              <a:lnSpc>
                <a:spcPts val="4421"/>
              </a:lnSpc>
            </a:pPr>
            <a:r>
              <a:rPr lang="en-US" sz="3200" dirty="0">
                <a:latin typeface="TT Chocolates Bold" panose="020B0604020202020204" charset="0"/>
              </a:rPr>
              <a:t>Tanvir Ahmed-2231047642</a:t>
            </a:r>
            <a:endParaRPr lang="en-US" sz="3158" b="1" dirty="0">
              <a:latin typeface="TT Chocolates Bold" panose="020B0604020202020204" charset="0"/>
              <a:ea typeface="TT Chocolates Bold"/>
              <a:cs typeface="TT Chocolates Bold"/>
              <a:sym typeface="TT Chocolates Bold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17075" y="4697333"/>
            <a:ext cx="5394385" cy="744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02"/>
              </a:lnSpc>
            </a:pPr>
            <a:r>
              <a:rPr lang="en-US" sz="6344" b="1" spc="-482" dirty="0">
                <a:solidFill>
                  <a:srgbClr val="1D348A"/>
                </a:solidFill>
                <a:latin typeface="Roca Two Bold"/>
                <a:ea typeface="Roca Two Bold"/>
                <a:cs typeface="Roca Two Bold"/>
                <a:sym typeface="Roca Two Bold"/>
              </a:rPr>
              <a:t>CSE440.01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8700" y="5780767"/>
            <a:ext cx="1960171" cy="359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41"/>
              </a:lnSpc>
            </a:pPr>
            <a:r>
              <a:rPr lang="en-US" sz="3099" b="1" spc="-235" dirty="0">
                <a:solidFill>
                  <a:srgbClr val="1D348A"/>
                </a:solidFill>
                <a:latin typeface="Roca Two Bold"/>
                <a:ea typeface="Roca Two Bold"/>
                <a:cs typeface="Roca Two Bold"/>
                <a:sym typeface="Roca Two Bold"/>
              </a:rPr>
              <a:t>GROUP 05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51999" y="1662831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The Problem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25428" y="2951332"/>
            <a:ext cx="9200000" cy="6078367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Volcanic terrain is too dangerous for humans to explore directly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rover must collect science samples and survive the mission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Lava is fatal; craters and gas are costly; rock blocks movement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Movement is unreliable — the rover can slip sideways or stall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terrain itself changes while the mission is running</a:t>
            </a:r>
          </a:p>
        </p:txBody>
      </p:sp>
      <p:pic>
        <p:nvPicPr>
          <p:cNvPr id="102" name="Hazard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429" y="2778610"/>
            <a:ext cx="6713383" cy="5892779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77399" y="1731201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What Is an MDP?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01159" y="2951333"/>
            <a:ext cx="9200000" cy="5945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A Markov Decision Process models decision-making under uncertainty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An agent picks actions to maximize long-term reward, not just the next step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next state depends only on the current state and action taken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Here: states = grid cells, actions = moves, rewards = safety + science</a:t>
            </a:r>
          </a:p>
        </p:txBody>
      </p:sp>
      <p:sp>
        <p:nvSpPr>
          <p:cNvPr id="102" name="Flow 102"/>
          <p:cNvSpPr/>
          <p:nvPr/>
        </p:nvSpPr>
        <p:spPr>
          <a:xfrm>
            <a:off x="10725429" y="3255000"/>
            <a:ext cx="6713383" cy="950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900" b="1" dirty="0">
                <a:solidFill>
                  <a:srgbClr val="1D348A"/>
                </a:solidFill>
                <a:latin typeface="Calibri"/>
                <a:cs typeface="Calibri"/>
              </a:rPr>
              <a:t>Agent observes the STATE</a:t>
            </a:r>
          </a:p>
        </p:txBody>
      </p:sp>
      <p:sp>
        <p:nvSpPr>
          <p:cNvPr id="103" name="Arrow 103"/>
          <p:cNvSpPr txBox="1"/>
          <p:nvPr/>
        </p:nvSpPr>
        <p:spPr>
          <a:xfrm>
            <a:off x="13882120" y="4205000"/>
            <a:ext cx="400000" cy="380000"/>
          </a:xfrm>
          <a:prstGeom prst="rect">
            <a:avLst/>
          </a:prstGeom>
        </p:spPr>
        <p:txBody>
          <a:bodyPr wrap="square" lIns="0" tIns="0" rIns="0" bIns="0" anchor="ctr"/>
          <a:lstStyle/>
          <a:p>
            <a:pPr algn="ctr"/>
            <a:r>
              <a:rPr lang="en-US" sz="2400" b="1" dirty="0">
                <a:solidFill>
                  <a:srgbClr val="162768"/>
                </a:solidFill>
              </a:rPr>
              <a:t>↓</a:t>
            </a:r>
          </a:p>
        </p:txBody>
      </p:sp>
      <p:sp>
        <p:nvSpPr>
          <p:cNvPr id="104" name="Flow 104"/>
          <p:cNvSpPr/>
          <p:nvPr/>
        </p:nvSpPr>
        <p:spPr>
          <a:xfrm>
            <a:off x="10725429" y="4585000"/>
            <a:ext cx="6713383" cy="950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900" b="1" dirty="0">
                <a:solidFill>
                  <a:srgbClr val="1D348A"/>
                </a:solidFill>
                <a:latin typeface="Calibri"/>
                <a:cs typeface="Calibri"/>
              </a:rPr>
              <a:t>Policy chooses an ACTION</a:t>
            </a:r>
          </a:p>
        </p:txBody>
      </p:sp>
      <p:sp>
        <p:nvSpPr>
          <p:cNvPr id="105" name="Arrow 105"/>
          <p:cNvSpPr txBox="1"/>
          <p:nvPr/>
        </p:nvSpPr>
        <p:spPr>
          <a:xfrm>
            <a:off x="13882120" y="5535000"/>
            <a:ext cx="400000" cy="380000"/>
          </a:xfrm>
          <a:prstGeom prst="rect">
            <a:avLst/>
          </a:prstGeom>
        </p:spPr>
        <p:txBody>
          <a:bodyPr wrap="square" lIns="0" tIns="0" rIns="0" bIns="0" anchor="ctr"/>
          <a:lstStyle/>
          <a:p>
            <a:pPr algn="ctr"/>
            <a:r>
              <a:rPr lang="en-US" sz="2400" b="1" dirty="0">
                <a:solidFill>
                  <a:srgbClr val="162768"/>
                </a:solidFill>
              </a:rPr>
              <a:t>↓</a:t>
            </a:r>
          </a:p>
        </p:txBody>
      </p:sp>
      <p:sp>
        <p:nvSpPr>
          <p:cNvPr id="106" name="Flow 106"/>
          <p:cNvSpPr/>
          <p:nvPr/>
        </p:nvSpPr>
        <p:spPr>
          <a:xfrm>
            <a:off x="10725429" y="5915000"/>
            <a:ext cx="6713383" cy="950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900" b="1" dirty="0">
                <a:solidFill>
                  <a:srgbClr val="1D348A"/>
                </a:solidFill>
                <a:latin typeface="Calibri"/>
                <a:cs typeface="Calibri"/>
              </a:rPr>
              <a:t>Environment returns REWARD + next STATE</a:t>
            </a:r>
          </a:p>
        </p:txBody>
      </p:sp>
      <p:sp>
        <p:nvSpPr>
          <p:cNvPr id="107" name="Arrow 107"/>
          <p:cNvSpPr txBox="1"/>
          <p:nvPr/>
        </p:nvSpPr>
        <p:spPr>
          <a:xfrm>
            <a:off x="13882120" y="6865000"/>
            <a:ext cx="400000" cy="380000"/>
          </a:xfrm>
          <a:prstGeom prst="rect">
            <a:avLst/>
          </a:prstGeom>
        </p:spPr>
        <p:txBody>
          <a:bodyPr wrap="square" lIns="0" tIns="0" rIns="0" bIns="0" anchor="ctr"/>
          <a:lstStyle/>
          <a:p>
            <a:pPr algn="ctr"/>
            <a:r>
              <a:rPr lang="en-US" sz="2400" b="1" dirty="0">
                <a:solidFill>
                  <a:srgbClr val="162768"/>
                </a:solidFill>
              </a:rPr>
              <a:t>↓</a:t>
            </a:r>
          </a:p>
        </p:txBody>
      </p:sp>
      <p:sp>
        <p:nvSpPr>
          <p:cNvPr id="108" name="Flow 108"/>
          <p:cNvSpPr/>
          <p:nvPr/>
        </p:nvSpPr>
        <p:spPr>
          <a:xfrm>
            <a:off x="10725429" y="7245000"/>
            <a:ext cx="6713383" cy="950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900" b="1" dirty="0">
                <a:solidFill>
                  <a:srgbClr val="1D348A"/>
                </a:solidFill>
                <a:latin typeface="Calibri"/>
                <a:cs typeface="Calibri"/>
              </a:rPr>
              <a:t>Repeat until the mission ends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01629" y="1944071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The MDP Formulation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63529" y="3333451"/>
            <a:ext cx="9200000" cy="4874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States: every walkable grid cell (rock excluded)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Actions: up / down / left / right / stay / scan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Transitions: 75% intended, 10% drift each side, 5% stall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Rewards: science +20, base +5, safe −1, gas −15, crater −40, lava −100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Solved exactly with value iteration</a:t>
            </a:r>
          </a:p>
        </p:txBody>
      </p:sp>
      <p:sp>
        <p:nvSpPr>
          <p:cNvPr id="102" name="Bellman Card"/>
          <p:cNvSpPr/>
          <p:nvPr/>
        </p:nvSpPr>
        <p:spPr>
          <a:xfrm>
            <a:off x="10725429" y="4525000"/>
            <a:ext cx="6713383" cy="24000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228600" tIns="228600" rIns="228600" bIns="228600" anchor="ctr"/>
          <a:lstStyle/>
          <a:p>
            <a:pPr algn="ctr"/>
            <a:r>
              <a:rPr lang="en-US" sz="2400" b="1" i="1" dirty="0">
                <a:solidFill>
                  <a:srgbClr val="1D348A"/>
                </a:solidFill>
                <a:latin typeface="Cambria"/>
                <a:cs typeface="Cambria"/>
              </a:rPr>
              <a:t>V(s) = max_a Σ P(s'|s,a) [R(s,a,s') + γV(s')]</a:t>
            </a:r>
          </a:p>
          <a:p>
            <a:pPr algn="ctr">
              <a:spcBef>
                <a:spcPts val="1400"/>
              </a:spcBef>
            </a:pPr>
            <a:r>
              <a:rPr lang="en-US" sz="1600" i="1" dirty="0">
                <a:solidFill>
                  <a:srgbClr val="0E1943"/>
                </a:solidFill>
                <a:latin typeface="Calibri"/>
                <a:cs typeface="Calibri"/>
              </a:rPr>
              <a:t>The Bellman backup, repeated until convergence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373319" y="1306139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The Computed Policy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pic>
        <p:nvPicPr>
          <p:cNvPr id="101" name="Policy Ma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29" y="2425000"/>
            <a:ext cx="7291501" cy="6600000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  <p:sp>
        <p:nvSpPr>
          <p:cNvPr id="102" name="Body 102"/>
          <p:cNvSpPr txBox="1"/>
          <p:nvPr/>
        </p:nvSpPr>
        <p:spPr>
          <a:xfrm>
            <a:off x="8930173" y="3096375"/>
            <a:ext cx="8621882" cy="5095125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8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One optimal action per cell — a complete plan, not one path</a:t>
            </a:r>
          </a:p>
          <a:p>
            <a:pPr marL="342900" indent="-342900" algn="l">
              <a:lnSpc>
                <a:spcPct val="130000"/>
              </a:lnSpc>
              <a:spcAft>
                <a:spcPts val="28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flow bends around lava and craters, converging on science and base</a:t>
            </a:r>
          </a:p>
          <a:p>
            <a:pPr marL="342900" indent="-342900" algn="l">
              <a:lnSpc>
                <a:spcPct val="130000"/>
              </a:lnSpc>
              <a:spcAft>
                <a:spcPts val="28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Robust by construction — even a slip lands on a cell that already has a plan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373319" y="1306139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4600" b="1" spc="-38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Adaptive Behavior: Re-Planning &amp; Hazards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25429" y="2778610"/>
            <a:ext cx="9200000" cy="5691817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Collect-once rule: a sample is gathered once, then the cell resets to safe ground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agent instantly re-runs value iteration after every collection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Gas drifts (15% per step) and lava spreads (8% per step) into safe neighbors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Any terrain change triggers a fresh re-plan; a lava flow reaching the rover ends the mission</a:t>
            </a:r>
          </a:p>
        </p:txBody>
      </p:sp>
      <p:pic>
        <p:nvPicPr>
          <p:cNvPr id="102" name="Hazards Aft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429" y="2778610"/>
            <a:ext cx="6713383" cy="5892779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373319" y="1306139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A Completed Mission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pic>
        <p:nvPicPr>
          <p:cNvPr id="101" name="Final Ma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0653" y="2250000"/>
            <a:ext cx="7102935" cy="5180000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  <p:sp>
        <p:nvSpPr>
          <p:cNvPr id="102" name="Caption"/>
          <p:cNvSpPr txBox="1"/>
          <p:nvPr/>
        </p:nvSpPr>
        <p:spPr>
          <a:xfrm>
            <a:off x="1025429" y="7600000"/>
            <a:ext cx="16413383" cy="380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ctr"/>
            <a:r>
              <a:rPr lang="en-US" sz="1800" i="1" dirty="0">
                <a:solidFill>
                  <a:srgbClr val="0E1943"/>
                </a:solidFill>
                <a:latin typeface="Calibri"/>
                <a:cs typeface="Calibri"/>
              </a:rPr>
              <a:t>Seed 42, dynamic hazards ON</a:t>
            </a:r>
          </a:p>
        </p:txBody>
      </p:sp>
      <p:sp>
        <p:nvSpPr>
          <p:cNvPr id="103" name="Stat 103"/>
          <p:cNvSpPr txBox="1"/>
          <p:nvPr/>
        </p:nvSpPr>
        <p:spPr>
          <a:xfrm>
            <a:off x="1025429" y="8150000"/>
            <a:ext cx="5137794" cy="1050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ctr"/>
            <a:r>
              <a:rPr lang="en-US" sz="5000" b="1" dirty="0">
                <a:solidFill>
                  <a:srgbClr val="1D348A"/>
                </a:solidFill>
                <a:latin typeface="Cambria"/>
                <a:cs typeface="Cambria"/>
              </a:rPr>
              <a:t>24</a:t>
            </a:r>
          </a:p>
          <a:p>
            <a:pPr algn="ctr"/>
            <a:r>
              <a:rPr lang="en-US" sz="1700" dirty="0">
                <a:solidFill>
                  <a:srgbClr val="0E1943"/>
                </a:solidFill>
                <a:latin typeface="Calibri"/>
                <a:cs typeface="Calibri"/>
              </a:rPr>
              <a:t>Steps Taken</a:t>
            </a:r>
          </a:p>
        </p:txBody>
      </p:sp>
      <p:sp>
        <p:nvSpPr>
          <p:cNvPr id="104" name="Stat 104"/>
          <p:cNvSpPr txBox="1"/>
          <p:nvPr/>
        </p:nvSpPr>
        <p:spPr>
          <a:xfrm>
            <a:off x="6663223" y="8150000"/>
            <a:ext cx="5137794" cy="1050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ctr"/>
            <a:r>
              <a:rPr lang="en-US" sz="5000" b="1" dirty="0">
                <a:solidFill>
                  <a:srgbClr val="1D348A"/>
                </a:solidFill>
                <a:latin typeface="Cambria"/>
                <a:cs typeface="Cambria"/>
              </a:rPr>
              <a:t>2</a:t>
            </a:r>
          </a:p>
          <a:p>
            <a:pPr algn="ctr"/>
            <a:r>
              <a:rPr lang="en-US" sz="1700" dirty="0">
                <a:solidFill>
                  <a:srgbClr val="0E1943"/>
                </a:solidFill>
                <a:latin typeface="Calibri"/>
                <a:cs typeface="Calibri"/>
              </a:rPr>
              <a:t>Science Samples Collected</a:t>
            </a:r>
          </a:p>
        </p:txBody>
      </p:sp>
      <p:sp>
        <p:nvSpPr>
          <p:cNvPr id="105" name="Stat 105"/>
          <p:cNvSpPr txBox="1"/>
          <p:nvPr/>
        </p:nvSpPr>
        <p:spPr>
          <a:xfrm>
            <a:off x="12301017" y="8150000"/>
            <a:ext cx="5137794" cy="1050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ctr"/>
            <a:r>
              <a:rPr lang="en-US" sz="5000" b="1" dirty="0">
                <a:solidFill>
                  <a:srgbClr val="1D348A"/>
                </a:solidFill>
                <a:latin typeface="Cambria"/>
                <a:cs typeface="Cambria"/>
              </a:rPr>
              <a:t>71</a:t>
            </a:r>
          </a:p>
          <a:p>
            <a:pPr algn="ctr"/>
            <a:r>
              <a:rPr lang="en-US" sz="1700" dirty="0">
                <a:solidFill>
                  <a:srgbClr val="0E1943"/>
                </a:solidFill>
                <a:latin typeface="Calibri"/>
                <a:cs typeface="Calibri"/>
              </a:rPr>
              <a:t>Hazard Events Survived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295400" y="1946604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46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Planning Beats Heuristics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139299" y="3533490"/>
            <a:ext cx="9200000" cy="4504408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6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20 random terrains, three agents: MDP, Greedy, Random</a:t>
            </a:r>
          </a:p>
          <a:p>
            <a:pPr marL="342900" indent="-342900" algn="l">
              <a:lnSpc>
                <a:spcPct val="130000"/>
              </a:lnSpc>
              <a:spcAft>
                <a:spcPts val="26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Only the MDP agent earns positive reward: +42 vs −124 vs −180</a:t>
            </a:r>
          </a:p>
          <a:p>
            <a:pPr marL="342900" indent="-342900" algn="l">
              <a:lnSpc>
                <a:spcPct val="130000"/>
              </a:lnSpc>
              <a:spcAft>
                <a:spcPts val="26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MDP survives 60% of missions — double the greedy baseline</a:t>
            </a:r>
          </a:p>
          <a:p>
            <a:pPr marL="342900" indent="-342900" algn="l">
              <a:lnSpc>
                <a:spcPct val="130000"/>
              </a:lnSpc>
              <a:spcAft>
                <a:spcPts val="26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Roughly 5× fewer hazard entries than either baseline</a:t>
            </a:r>
          </a:p>
        </p:txBody>
      </p:sp>
      <p:pic>
        <p:nvPicPr>
          <p:cNvPr id="102" name="Performance Plo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429" y="3039647"/>
            <a:ext cx="6713383" cy="5370706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39299" y="2007329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46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Conclusions &amp; Future Work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38129" y="3185631"/>
            <a:ext cx="9200000" cy="4875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Decision-theoretic planning decisively beats simple heuristics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Safety and science behavior emerge from the reward model alone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Future: risk-sensitive objectives, energy budgets, multi-rover teams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Everything is seeded and reproducible: python main.py</a:t>
            </a:r>
          </a:p>
        </p:txBody>
      </p:sp>
      <p:sp>
        <p:nvSpPr>
          <p:cNvPr id="102" name="Quote Card"/>
          <p:cNvSpPr/>
          <p:nvPr/>
        </p:nvSpPr>
        <p:spPr>
          <a:xfrm>
            <a:off x="10725429" y="4325000"/>
            <a:ext cx="6713383" cy="28000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228600" tIns="228600" rIns="228600" bIns="228600" anchor="ctr"/>
          <a:lstStyle/>
          <a:p>
            <a:pPr algn="ctr"/>
            <a:r>
              <a:rPr lang="en-US" sz="2800" b="1" i="1" dirty="0">
                <a:solidFill>
                  <a:srgbClr val="1D348A"/>
                </a:solidFill>
                <a:latin typeface="Cambria"/>
                <a:cs typeface="Cambria"/>
              </a:rPr>
              <a:t>“The reward model IS the specification.”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37308" y="41533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606054" y="3920448"/>
            <a:ext cx="9895170" cy="5951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139"/>
              </a:lnSpc>
            </a:pPr>
            <a:r>
              <a:rPr lang="en-US" sz="27000" b="1" spc="-2052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Thank You!</a:t>
            </a:r>
          </a:p>
        </p:txBody>
      </p:sp>
      <p:sp>
        <p:nvSpPr>
          <p:cNvPr id="7" name="Freeform 7"/>
          <p:cNvSpPr/>
          <p:nvPr/>
        </p:nvSpPr>
        <p:spPr>
          <a:xfrm>
            <a:off x="7769451" y="6504738"/>
            <a:ext cx="2048459" cy="2117703"/>
          </a:xfrm>
          <a:custGeom>
            <a:avLst/>
            <a:gdLst/>
            <a:ahLst/>
            <a:cxnLst/>
            <a:rect l="l" t="t" r="r" b="b"/>
            <a:pathLst>
              <a:path w="2048459" h="2117703">
                <a:moveTo>
                  <a:pt x="0" y="0"/>
                </a:moveTo>
                <a:lnTo>
                  <a:pt x="2048459" y="0"/>
                </a:lnTo>
                <a:lnTo>
                  <a:pt x="2048459" y="2117703"/>
                </a:lnTo>
                <a:lnTo>
                  <a:pt x="0" y="21177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15168" y="4821360"/>
            <a:ext cx="644280" cy="64428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223482" y="4922445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3" y="0"/>
                </a:lnTo>
                <a:lnTo>
                  <a:pt x="427653" y="442110"/>
                </a:lnTo>
                <a:lnTo>
                  <a:pt x="0" y="4421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17528552" y="4821360"/>
            <a:ext cx="644280" cy="64428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17636865" y="4922445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3" y="0"/>
                </a:lnTo>
                <a:lnTo>
                  <a:pt x="427653" y="442110"/>
                </a:lnTo>
                <a:lnTo>
                  <a:pt x="0" y="4421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513</Words>
  <Application>Microsoft Office PowerPoint</Application>
  <PresentationFormat>Custom</PresentationFormat>
  <Paragraphs>72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Calibri</vt:lpstr>
      <vt:lpstr>TT Chocolates Bold</vt:lpstr>
      <vt:lpstr>Roca Two Bold</vt:lpstr>
      <vt:lpstr>Cambria</vt:lpstr>
      <vt:lpstr>Roca Two Heavy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novelty_cse465</dc:title>
  <cp:lastModifiedBy>Fahim Foysal souwmik</cp:lastModifiedBy>
  <cp:revision>3</cp:revision>
  <dcterms:created xsi:type="dcterms:W3CDTF">2006-08-16T00:00:00Z</dcterms:created>
  <dcterms:modified xsi:type="dcterms:W3CDTF">2026-08-26T14:57:17Z</dcterms:modified>
  <dc:identifier>DAHTZKdpcTQ</dc:identifier>
</cp:coreProperties>
</file>