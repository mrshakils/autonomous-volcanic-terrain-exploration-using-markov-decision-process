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75" r:id="rId4"/>
    <p:sldId id="276" r:id="rId5"/>
    <p:sldId id="277" r:id="rId6"/>
    <p:sldId id="278" r:id="rId7"/>
    <p:sldId id="279" r:id="rId8"/>
    <p:sldId id="280" r:id="rId9"/>
    <p:sldId id="281" r:id="rId10"/>
    <p:sldId id="274" r:id="rId11"/>
  </p:sldIdLst>
  <p:sldSz cx="18288000" cy="10287000"/>
  <p:notesSz cx="6858000" cy="9144000"/>
  <p:embeddedFontLst>
    <p:embeddedFont>
      <p:font typeface="Calibri" panose="020F0502020204030204" pitchFamily="34" charset="0"/>
      <p:regular r:id="rId12"/>
      <p:bold r:id="rId13"/>
      <p:italic r:id="rId14"/>
      <p:boldItalic r:id="rId15"/>
    </p:embeddedFont>
    <p:embeddedFont>
      <p:font typeface="Cambria" panose="02040503050406030204" pitchFamily="18" charset="0"/>
      <p:regular r:id="rId16"/>
      <p:bold r:id="rId17"/>
      <p:italic r:id="rId18"/>
      <p:boldItalic r:id="rId19"/>
    </p:embeddedFont>
    <p:embeddedFont>
      <p:font typeface="Roca Two Bold" panose="020B0604020202020204" charset="0"/>
      <p:regular r:id="rId20"/>
    </p:embeddedFont>
    <p:embeddedFont>
      <p:font typeface="Roca Two Heavy" panose="020B0604020202020204" charset="0"/>
      <p:regular r:id="rId21"/>
    </p:embeddedFont>
    <p:embeddedFont>
      <p:font typeface="TT Chocolates Bold" panose="020B0604020202020204" charset="0"/>
      <p:regular r:id="rId2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4" d="100"/>
          <a:sy n="54" d="100"/>
        </p:scale>
        <p:origin x="754" y="5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10.fntdata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Relationship Id="rId22" Type="http://schemas.openxmlformats.org/officeDocument/2006/relationships/font" Target="fonts/font11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5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5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png"/><Relationship Id="rId4" Type="http://schemas.openxmlformats.org/officeDocument/2006/relationships/image" Target="../media/image5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5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111" b="-15111"/>
            </a:stretch>
          </a:blipFill>
        </p:spPr>
        <p:txBody>
          <a:bodyPr/>
          <a:lstStyle/>
          <a:p>
            <a:endParaRPr lang="en-US" dirty="0"/>
          </a:p>
        </p:txBody>
      </p:sp>
      <p:grpSp>
        <p:nvGrpSpPr>
          <p:cNvPr id="3" name="Group 3"/>
          <p:cNvGrpSpPr/>
          <p:nvPr/>
        </p:nvGrpSpPr>
        <p:grpSpPr>
          <a:xfrm>
            <a:off x="437308" y="431667"/>
            <a:ext cx="17413383" cy="9456337"/>
            <a:chOff x="0" y="0"/>
            <a:chExt cx="4586241" cy="249055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586241" cy="2490558"/>
            </a:xfrm>
            <a:custGeom>
              <a:avLst/>
              <a:gdLst/>
              <a:ahLst/>
              <a:cxnLst/>
              <a:rect l="l" t="t" r="r" b="b"/>
              <a:pathLst>
                <a:path w="4586241" h="2490558">
                  <a:moveTo>
                    <a:pt x="22674" y="0"/>
                  </a:moveTo>
                  <a:lnTo>
                    <a:pt x="4563567" y="0"/>
                  </a:lnTo>
                  <a:cubicBezTo>
                    <a:pt x="4569580" y="0"/>
                    <a:pt x="4575347" y="2389"/>
                    <a:pt x="4579600" y="6641"/>
                  </a:cubicBezTo>
                  <a:cubicBezTo>
                    <a:pt x="4583852" y="10893"/>
                    <a:pt x="4586241" y="16661"/>
                    <a:pt x="4586241" y="22674"/>
                  </a:cubicBezTo>
                  <a:lnTo>
                    <a:pt x="4586241" y="2467883"/>
                  </a:lnTo>
                  <a:cubicBezTo>
                    <a:pt x="4586241" y="2480406"/>
                    <a:pt x="4576089" y="2490558"/>
                    <a:pt x="4563567" y="2490558"/>
                  </a:cubicBezTo>
                  <a:lnTo>
                    <a:pt x="22674" y="2490558"/>
                  </a:lnTo>
                  <a:cubicBezTo>
                    <a:pt x="16661" y="2490558"/>
                    <a:pt x="10893" y="2488169"/>
                    <a:pt x="6641" y="2483917"/>
                  </a:cubicBezTo>
                  <a:cubicBezTo>
                    <a:pt x="2389" y="2479664"/>
                    <a:pt x="0" y="2473897"/>
                    <a:pt x="0" y="2467883"/>
                  </a:cubicBezTo>
                  <a:lnTo>
                    <a:pt x="0" y="22674"/>
                  </a:lnTo>
                  <a:cubicBezTo>
                    <a:pt x="0" y="16661"/>
                    <a:pt x="2389" y="10893"/>
                    <a:pt x="6641" y="6641"/>
                  </a:cubicBezTo>
                  <a:cubicBezTo>
                    <a:pt x="10893" y="2389"/>
                    <a:pt x="16661" y="0"/>
                    <a:pt x="22674" y="0"/>
                  </a:cubicBezTo>
                  <a:close/>
                </a:path>
              </a:pathLst>
            </a:custGeom>
            <a:ln w="19050" cap="rnd">
              <a:solidFill>
                <a:srgbClr val="162768"/>
              </a:solidFill>
              <a:prstDash val="solid"/>
              <a:round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4586241" cy="25381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917075" y="1677898"/>
            <a:ext cx="16881501" cy="230832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/>
            <a:r>
              <a:rPr lang="en-US" sz="7500" b="1" spc="-570" dirty="0">
                <a:solidFill>
                  <a:srgbClr val="1D348A"/>
                </a:solidFill>
                <a:latin typeface="Roca Two Heavy"/>
                <a:ea typeface="Roca Two Heavy"/>
                <a:cs typeface="Roca Two Heavy"/>
                <a:sym typeface="Roca Two Heavy"/>
              </a:rPr>
              <a:t>Autonomous Volcanic Terrain Exploration</a:t>
            </a:r>
          </a:p>
          <a:p>
            <a:pPr algn="l"/>
            <a:r>
              <a:rPr lang="en-US" sz="7500" b="1" spc="-570" dirty="0">
                <a:solidFill>
                  <a:schemeClr val="accent1"/>
                </a:solidFill>
                <a:latin typeface="Roca Two Heavy"/>
                <a:ea typeface="Roca Two Heavy"/>
                <a:cs typeface="Roca Two Heavy"/>
                <a:sym typeface="Roca Two Heavy"/>
              </a:rPr>
              <a:t>Using a Markov Decision Process (MDP)</a:t>
            </a:r>
          </a:p>
        </p:txBody>
      </p:sp>
      <p:sp>
        <p:nvSpPr>
          <p:cNvPr id="7" name="Freeform 7"/>
          <p:cNvSpPr/>
          <p:nvPr/>
        </p:nvSpPr>
        <p:spPr>
          <a:xfrm>
            <a:off x="15148710" y="5541274"/>
            <a:ext cx="1393548" cy="1440654"/>
          </a:xfrm>
          <a:custGeom>
            <a:avLst/>
            <a:gdLst/>
            <a:ahLst/>
            <a:cxnLst/>
            <a:rect l="l" t="t" r="r" b="b"/>
            <a:pathLst>
              <a:path w="1393548" h="1440654">
                <a:moveTo>
                  <a:pt x="0" y="0"/>
                </a:moveTo>
                <a:lnTo>
                  <a:pt x="1393548" y="0"/>
                </a:lnTo>
                <a:lnTo>
                  <a:pt x="1393548" y="1440654"/>
                </a:lnTo>
                <a:lnTo>
                  <a:pt x="0" y="144065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8" name="Group 8"/>
          <p:cNvGrpSpPr/>
          <p:nvPr/>
        </p:nvGrpSpPr>
        <p:grpSpPr>
          <a:xfrm>
            <a:off x="8821860" y="109527"/>
            <a:ext cx="644280" cy="644280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E1943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028700" y="6462815"/>
            <a:ext cx="7486550" cy="28017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21"/>
              </a:lnSpc>
            </a:pPr>
            <a:r>
              <a:rPr lang="en-US" sz="3158" b="1" dirty="0">
                <a:solidFill>
                  <a:srgbClr val="000000"/>
                </a:solidFill>
                <a:latin typeface="TT Chocolates Bold"/>
                <a:ea typeface="TT Chocolates Bold"/>
                <a:cs typeface="TT Chocolates Bold"/>
                <a:sym typeface="TT Chocolates Bold"/>
              </a:rPr>
              <a:t>MEMBERS</a:t>
            </a:r>
          </a:p>
          <a:p>
            <a:pPr>
              <a:lnSpc>
                <a:spcPts val="4421"/>
              </a:lnSpc>
            </a:pPr>
            <a:r>
              <a:rPr lang="en-US" sz="3200" b="1" dirty="0">
                <a:latin typeface="TT Chocolates Bold" panose="020B0604020202020204" charset="0"/>
              </a:rPr>
              <a:t>Shakil Ahmed -2221452042</a:t>
            </a:r>
            <a:endParaRPr lang="en-US" sz="3158" b="1" dirty="0">
              <a:latin typeface="TT Chocolates Bold" panose="020B0604020202020204" charset="0"/>
              <a:ea typeface="TT Chocolates Bold"/>
              <a:cs typeface="TT Chocolates Bold"/>
              <a:sym typeface="TT Chocolates Bold"/>
            </a:endParaRPr>
          </a:p>
          <a:p>
            <a:pPr algn="l">
              <a:lnSpc>
                <a:spcPts val="4421"/>
              </a:lnSpc>
            </a:pPr>
            <a:r>
              <a:rPr lang="en-US" sz="3158" b="1" dirty="0">
                <a:solidFill>
                  <a:srgbClr val="000000"/>
                </a:solidFill>
                <a:latin typeface="TT Chocolates Bold"/>
                <a:ea typeface="TT Chocolates Bold"/>
                <a:cs typeface="TT Chocolates Bold"/>
                <a:sym typeface="TT Chocolates Bold"/>
              </a:rPr>
              <a:t>Fahim Foysal - 2233594642</a:t>
            </a:r>
          </a:p>
          <a:p>
            <a:pPr algn="l">
              <a:lnSpc>
                <a:spcPts val="4421"/>
              </a:lnSpc>
            </a:pPr>
            <a:r>
              <a:rPr lang="en-US" sz="3158" b="1" dirty="0">
                <a:solidFill>
                  <a:srgbClr val="000000"/>
                </a:solidFill>
                <a:latin typeface="TT Chocolates Bold"/>
                <a:ea typeface="TT Chocolates Bold"/>
                <a:cs typeface="TT Chocolates Bold"/>
                <a:sym typeface="TT Chocolates Bold"/>
              </a:rPr>
              <a:t>Shefa Tabassum- 2232993042</a:t>
            </a:r>
          </a:p>
          <a:p>
            <a:pPr>
              <a:lnSpc>
                <a:spcPts val="4421"/>
              </a:lnSpc>
            </a:pPr>
            <a:r>
              <a:rPr lang="en-US" sz="3200" dirty="0">
                <a:latin typeface="TT Chocolates Bold" panose="020B0604020202020204" charset="0"/>
              </a:rPr>
              <a:t>Tanvir Ahmed-2231047642</a:t>
            </a:r>
            <a:endParaRPr lang="en-US" sz="3158" b="1" dirty="0">
              <a:latin typeface="TT Chocolates Bold" panose="020B0604020202020204" charset="0"/>
              <a:ea typeface="TT Chocolates Bold"/>
              <a:cs typeface="TT Chocolates Bold"/>
              <a:sym typeface="TT Chocolates Bold"/>
            </a:endParaRPr>
          </a:p>
        </p:txBody>
      </p:sp>
      <p:sp>
        <p:nvSpPr>
          <p:cNvPr id="12" name="Freeform 12"/>
          <p:cNvSpPr/>
          <p:nvPr/>
        </p:nvSpPr>
        <p:spPr>
          <a:xfrm>
            <a:off x="8930173" y="210613"/>
            <a:ext cx="427653" cy="442109"/>
          </a:xfrm>
          <a:custGeom>
            <a:avLst/>
            <a:gdLst/>
            <a:ahLst/>
            <a:cxnLst/>
            <a:rect l="l" t="t" r="r" b="b"/>
            <a:pathLst>
              <a:path w="427653" h="442109">
                <a:moveTo>
                  <a:pt x="0" y="0"/>
                </a:moveTo>
                <a:lnTo>
                  <a:pt x="427654" y="0"/>
                </a:lnTo>
                <a:lnTo>
                  <a:pt x="427654" y="442109"/>
                </a:lnTo>
                <a:lnTo>
                  <a:pt x="0" y="44210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grpSp>
        <p:nvGrpSpPr>
          <p:cNvPr id="13" name="Group 13"/>
          <p:cNvGrpSpPr/>
          <p:nvPr/>
        </p:nvGrpSpPr>
        <p:grpSpPr>
          <a:xfrm>
            <a:off x="8821860" y="9533193"/>
            <a:ext cx="644280" cy="644280"/>
            <a:chOff x="0" y="0"/>
            <a:chExt cx="812800" cy="8128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E1943"/>
            </a:solidFill>
          </p:spPr>
        </p:sp>
        <p:sp>
          <p:nvSpPr>
            <p:cNvPr id="15" name="TextBox 15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16" name="Freeform 16"/>
          <p:cNvSpPr/>
          <p:nvPr/>
        </p:nvSpPr>
        <p:spPr>
          <a:xfrm>
            <a:off x="8930173" y="9634278"/>
            <a:ext cx="427653" cy="442109"/>
          </a:xfrm>
          <a:custGeom>
            <a:avLst/>
            <a:gdLst/>
            <a:ahLst/>
            <a:cxnLst/>
            <a:rect l="l" t="t" r="r" b="b"/>
            <a:pathLst>
              <a:path w="427653" h="442109">
                <a:moveTo>
                  <a:pt x="0" y="0"/>
                </a:moveTo>
                <a:lnTo>
                  <a:pt x="427654" y="0"/>
                </a:lnTo>
                <a:lnTo>
                  <a:pt x="427654" y="442109"/>
                </a:lnTo>
                <a:lnTo>
                  <a:pt x="0" y="44210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7" name="TextBox 17"/>
          <p:cNvSpPr txBox="1"/>
          <p:nvPr/>
        </p:nvSpPr>
        <p:spPr>
          <a:xfrm>
            <a:off x="917075" y="4697333"/>
            <a:ext cx="5394385" cy="7441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02"/>
              </a:lnSpc>
            </a:pPr>
            <a:r>
              <a:rPr lang="en-US" sz="6344" b="1" spc="-482" dirty="0">
                <a:solidFill>
                  <a:srgbClr val="1D348A"/>
                </a:solidFill>
                <a:latin typeface="Roca Two Bold"/>
                <a:ea typeface="Roca Two Bold"/>
                <a:cs typeface="Roca Two Bold"/>
                <a:sym typeface="Roca Two Bold"/>
              </a:rPr>
              <a:t>CSE440.01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028700" y="5780767"/>
            <a:ext cx="1960171" cy="3591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41"/>
              </a:lnSpc>
            </a:pPr>
            <a:r>
              <a:rPr lang="en-US" sz="3099" b="1" spc="-235" dirty="0">
                <a:solidFill>
                  <a:srgbClr val="1D348A"/>
                </a:solidFill>
                <a:latin typeface="Roca Two Bold"/>
                <a:ea typeface="Roca Two Bold"/>
                <a:cs typeface="Roca Two Bold"/>
                <a:sym typeface="Roca Two Bold"/>
              </a:rPr>
              <a:t>GROUP 05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111" b="-15111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525429" y="484602"/>
            <a:ext cx="17413383" cy="9456337"/>
            <a:chOff x="0" y="0"/>
            <a:chExt cx="4586241" cy="249055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586241" cy="2490558"/>
            </a:xfrm>
            <a:custGeom>
              <a:avLst/>
              <a:gdLst/>
              <a:ahLst/>
              <a:cxnLst/>
              <a:rect l="l" t="t" r="r" b="b"/>
              <a:pathLst>
                <a:path w="4586241" h="2490558">
                  <a:moveTo>
                    <a:pt x="22674" y="0"/>
                  </a:moveTo>
                  <a:lnTo>
                    <a:pt x="4563567" y="0"/>
                  </a:lnTo>
                  <a:cubicBezTo>
                    <a:pt x="4569580" y="0"/>
                    <a:pt x="4575347" y="2389"/>
                    <a:pt x="4579600" y="6641"/>
                  </a:cubicBezTo>
                  <a:cubicBezTo>
                    <a:pt x="4583852" y="10893"/>
                    <a:pt x="4586241" y="16661"/>
                    <a:pt x="4586241" y="22674"/>
                  </a:cubicBezTo>
                  <a:lnTo>
                    <a:pt x="4586241" y="2467883"/>
                  </a:lnTo>
                  <a:cubicBezTo>
                    <a:pt x="4586241" y="2480406"/>
                    <a:pt x="4576089" y="2490558"/>
                    <a:pt x="4563567" y="2490558"/>
                  </a:cubicBezTo>
                  <a:lnTo>
                    <a:pt x="22674" y="2490558"/>
                  </a:lnTo>
                  <a:cubicBezTo>
                    <a:pt x="16661" y="2490558"/>
                    <a:pt x="10893" y="2488169"/>
                    <a:pt x="6641" y="2483917"/>
                  </a:cubicBezTo>
                  <a:cubicBezTo>
                    <a:pt x="2389" y="2479664"/>
                    <a:pt x="0" y="2473897"/>
                    <a:pt x="0" y="2467883"/>
                  </a:cubicBezTo>
                  <a:lnTo>
                    <a:pt x="0" y="22674"/>
                  </a:lnTo>
                  <a:cubicBezTo>
                    <a:pt x="0" y="16661"/>
                    <a:pt x="2389" y="10893"/>
                    <a:pt x="6641" y="6641"/>
                  </a:cubicBezTo>
                  <a:cubicBezTo>
                    <a:pt x="10893" y="2389"/>
                    <a:pt x="16661" y="0"/>
                    <a:pt x="22674" y="0"/>
                  </a:cubicBezTo>
                  <a:close/>
                </a:path>
              </a:pathLst>
            </a:custGeom>
            <a:ln w="19050" cap="rnd">
              <a:solidFill>
                <a:srgbClr val="162768"/>
              </a:solidFill>
              <a:prstDash val="solid"/>
              <a:round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4586241" cy="25381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8821860" y="109527"/>
            <a:ext cx="644280" cy="644280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E1943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8930173" y="210613"/>
            <a:ext cx="427653" cy="442109"/>
          </a:xfrm>
          <a:custGeom>
            <a:avLst/>
            <a:gdLst/>
            <a:ahLst/>
            <a:cxnLst/>
            <a:rect l="l" t="t" r="r" b="b"/>
            <a:pathLst>
              <a:path w="427653" h="442109">
                <a:moveTo>
                  <a:pt x="0" y="0"/>
                </a:moveTo>
                <a:lnTo>
                  <a:pt x="427654" y="0"/>
                </a:lnTo>
                <a:lnTo>
                  <a:pt x="427654" y="442109"/>
                </a:lnTo>
                <a:lnTo>
                  <a:pt x="0" y="44210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10" name="Group 10"/>
          <p:cNvGrpSpPr/>
          <p:nvPr/>
        </p:nvGrpSpPr>
        <p:grpSpPr>
          <a:xfrm>
            <a:off x="8821860" y="9533193"/>
            <a:ext cx="644280" cy="644280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E1943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13" name="Freeform 13"/>
          <p:cNvSpPr/>
          <p:nvPr/>
        </p:nvSpPr>
        <p:spPr>
          <a:xfrm>
            <a:off x="8930173" y="9634278"/>
            <a:ext cx="427653" cy="442109"/>
          </a:xfrm>
          <a:custGeom>
            <a:avLst/>
            <a:gdLst/>
            <a:ahLst/>
            <a:cxnLst/>
            <a:rect l="l" t="t" r="r" b="b"/>
            <a:pathLst>
              <a:path w="427653" h="442109">
                <a:moveTo>
                  <a:pt x="0" y="0"/>
                </a:moveTo>
                <a:lnTo>
                  <a:pt x="427654" y="0"/>
                </a:lnTo>
                <a:lnTo>
                  <a:pt x="427654" y="442109"/>
                </a:lnTo>
                <a:lnTo>
                  <a:pt x="0" y="44210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4" name="TextBox 14"/>
          <p:cNvSpPr txBox="1"/>
          <p:nvPr/>
        </p:nvSpPr>
        <p:spPr>
          <a:xfrm>
            <a:off x="1151999" y="1662831"/>
            <a:ext cx="9832431" cy="574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00"/>
              </a:lnSpc>
            </a:pPr>
            <a:r>
              <a:rPr lang="en-US" sz="5000" b="1" spc="-380" dirty="0">
                <a:solidFill>
                  <a:srgbClr val="1D348A"/>
                </a:solidFill>
                <a:latin typeface="Roca Two Heavy"/>
                <a:ea typeface="Roca Two Heavy"/>
                <a:cs typeface="Roca Two Heavy"/>
                <a:sym typeface="Roca Two Heavy"/>
              </a:rPr>
              <a:t>The Problem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39299" y="2783213"/>
            <a:ext cx="16185642" cy="6889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599"/>
              </a:lnSpc>
              <a:spcBef>
                <a:spcPct val="0"/>
              </a:spcBef>
            </a:pPr>
            <a:r>
              <a:rPr lang="en-US" sz="3999" b="1" dirty="0">
                <a:solidFill>
                  <a:srgbClr val="1D348A"/>
                </a:solidFill>
                <a:latin typeface="TT Chocolates Bold"/>
                <a:ea typeface="TT Chocolates Bold"/>
                <a:cs typeface="TT Chocolates Bold"/>
                <a:sym typeface="TT Chocolates Bold"/>
              </a:rPr>
              <a:t> </a:t>
            </a:r>
          </a:p>
        </p:txBody>
      </p:sp>
      <p:sp>
        <p:nvSpPr>
          <p:cNvPr id="101" name="Body 101"/>
          <p:cNvSpPr txBox="1"/>
          <p:nvPr/>
        </p:nvSpPr>
        <p:spPr>
          <a:xfrm>
            <a:off x="1025428" y="2951332"/>
            <a:ext cx="9200000" cy="6078367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marL="342900" indent="-342900" algn="l">
              <a:lnSpc>
                <a:spcPct val="130000"/>
              </a:lnSpc>
              <a:spcAft>
                <a:spcPts val="22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Volcanic terrain is too dangerous for humans to explore directly</a:t>
            </a:r>
          </a:p>
          <a:p>
            <a:pPr marL="342900" indent="-342900" algn="l">
              <a:lnSpc>
                <a:spcPct val="130000"/>
              </a:lnSpc>
              <a:spcAft>
                <a:spcPts val="22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The rover must collect science samples and survive the mission</a:t>
            </a:r>
          </a:p>
          <a:p>
            <a:pPr marL="342900" indent="-342900" algn="l">
              <a:lnSpc>
                <a:spcPct val="130000"/>
              </a:lnSpc>
              <a:spcAft>
                <a:spcPts val="22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Lava is fatal; craters and gas are costly; rock blocks movement</a:t>
            </a:r>
          </a:p>
          <a:p>
            <a:pPr marL="342900" indent="-342900" algn="l">
              <a:lnSpc>
                <a:spcPct val="130000"/>
              </a:lnSpc>
              <a:spcAft>
                <a:spcPts val="22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Movement is unreliable - the rover can slip sideways or stall</a:t>
            </a:r>
          </a:p>
          <a:p>
            <a:pPr marL="342900" indent="-342900" algn="l">
              <a:lnSpc>
                <a:spcPct val="130000"/>
              </a:lnSpc>
              <a:spcAft>
                <a:spcPts val="22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The terrain itself changes while the mission is running</a:t>
            </a:r>
          </a:p>
        </p:txBody>
      </p:sp>
      <p:pic>
        <p:nvPicPr>
          <p:cNvPr id="102" name="Hazard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25429" y="2778610"/>
            <a:ext cx="6713383" cy="5892779"/>
          </a:xfrm>
          <a:prstGeom prst="rect">
            <a:avLst/>
          </a:prstGeom>
          <a:ln w="12700">
            <a:solidFill>
              <a:srgbClr val="162768"/>
            </a:solidFill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111" b="-15111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525429" y="484602"/>
            <a:ext cx="17413383" cy="9456337"/>
            <a:chOff x="0" y="0"/>
            <a:chExt cx="4586241" cy="249055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586241" cy="2490558"/>
            </a:xfrm>
            <a:custGeom>
              <a:avLst/>
              <a:gdLst/>
              <a:ahLst/>
              <a:cxnLst/>
              <a:rect l="l" t="t" r="r" b="b"/>
              <a:pathLst>
                <a:path w="4586241" h="2490558">
                  <a:moveTo>
                    <a:pt x="22674" y="0"/>
                  </a:moveTo>
                  <a:lnTo>
                    <a:pt x="4563567" y="0"/>
                  </a:lnTo>
                  <a:cubicBezTo>
                    <a:pt x="4569580" y="0"/>
                    <a:pt x="4575347" y="2389"/>
                    <a:pt x="4579600" y="6641"/>
                  </a:cubicBezTo>
                  <a:cubicBezTo>
                    <a:pt x="4583852" y="10893"/>
                    <a:pt x="4586241" y="16661"/>
                    <a:pt x="4586241" y="22674"/>
                  </a:cubicBezTo>
                  <a:lnTo>
                    <a:pt x="4586241" y="2467883"/>
                  </a:lnTo>
                  <a:cubicBezTo>
                    <a:pt x="4586241" y="2480406"/>
                    <a:pt x="4576089" y="2490558"/>
                    <a:pt x="4563567" y="2490558"/>
                  </a:cubicBezTo>
                  <a:lnTo>
                    <a:pt x="22674" y="2490558"/>
                  </a:lnTo>
                  <a:cubicBezTo>
                    <a:pt x="16661" y="2490558"/>
                    <a:pt x="10893" y="2488169"/>
                    <a:pt x="6641" y="2483917"/>
                  </a:cubicBezTo>
                  <a:cubicBezTo>
                    <a:pt x="2389" y="2479664"/>
                    <a:pt x="0" y="2473897"/>
                    <a:pt x="0" y="2467883"/>
                  </a:cubicBezTo>
                  <a:lnTo>
                    <a:pt x="0" y="22674"/>
                  </a:lnTo>
                  <a:cubicBezTo>
                    <a:pt x="0" y="16661"/>
                    <a:pt x="2389" y="10893"/>
                    <a:pt x="6641" y="6641"/>
                  </a:cubicBezTo>
                  <a:cubicBezTo>
                    <a:pt x="10893" y="2389"/>
                    <a:pt x="16661" y="0"/>
                    <a:pt x="22674" y="0"/>
                  </a:cubicBezTo>
                  <a:close/>
                </a:path>
              </a:pathLst>
            </a:custGeom>
            <a:ln w="19050" cap="rnd">
              <a:solidFill>
                <a:srgbClr val="162768"/>
              </a:solidFill>
              <a:prstDash val="solid"/>
              <a:round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4586241" cy="25381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8821860" y="109527"/>
            <a:ext cx="644280" cy="644280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E1943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8930173" y="210613"/>
            <a:ext cx="427653" cy="442109"/>
          </a:xfrm>
          <a:custGeom>
            <a:avLst/>
            <a:gdLst/>
            <a:ahLst/>
            <a:cxnLst/>
            <a:rect l="l" t="t" r="r" b="b"/>
            <a:pathLst>
              <a:path w="427653" h="442109">
                <a:moveTo>
                  <a:pt x="0" y="0"/>
                </a:moveTo>
                <a:lnTo>
                  <a:pt x="427654" y="0"/>
                </a:lnTo>
                <a:lnTo>
                  <a:pt x="427654" y="442109"/>
                </a:lnTo>
                <a:lnTo>
                  <a:pt x="0" y="44210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10" name="Group 10"/>
          <p:cNvGrpSpPr/>
          <p:nvPr/>
        </p:nvGrpSpPr>
        <p:grpSpPr>
          <a:xfrm>
            <a:off x="8821860" y="9533193"/>
            <a:ext cx="644280" cy="644280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E1943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13" name="Freeform 13"/>
          <p:cNvSpPr/>
          <p:nvPr/>
        </p:nvSpPr>
        <p:spPr>
          <a:xfrm>
            <a:off x="8930173" y="9634278"/>
            <a:ext cx="427653" cy="442109"/>
          </a:xfrm>
          <a:custGeom>
            <a:avLst/>
            <a:gdLst/>
            <a:ahLst/>
            <a:cxnLst/>
            <a:rect l="l" t="t" r="r" b="b"/>
            <a:pathLst>
              <a:path w="427653" h="442109">
                <a:moveTo>
                  <a:pt x="0" y="0"/>
                </a:moveTo>
                <a:lnTo>
                  <a:pt x="427654" y="0"/>
                </a:lnTo>
                <a:lnTo>
                  <a:pt x="427654" y="442109"/>
                </a:lnTo>
                <a:lnTo>
                  <a:pt x="0" y="44210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4" name="TextBox 14"/>
          <p:cNvSpPr txBox="1"/>
          <p:nvPr/>
        </p:nvSpPr>
        <p:spPr>
          <a:xfrm>
            <a:off x="1177399" y="1731201"/>
            <a:ext cx="9832431" cy="574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00"/>
              </a:lnSpc>
            </a:pPr>
            <a:r>
              <a:rPr lang="en-US" sz="5000" b="1" spc="-380" dirty="0">
                <a:solidFill>
                  <a:srgbClr val="1D348A"/>
                </a:solidFill>
                <a:latin typeface="Roca Two Heavy"/>
                <a:ea typeface="Roca Two Heavy"/>
                <a:cs typeface="Roca Two Heavy"/>
                <a:sym typeface="Roca Two Heavy"/>
              </a:rPr>
              <a:t>What Is an MDP?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39299" y="2783213"/>
            <a:ext cx="16185642" cy="6889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599"/>
              </a:lnSpc>
              <a:spcBef>
                <a:spcPct val="0"/>
              </a:spcBef>
            </a:pPr>
            <a:r>
              <a:rPr lang="en-US" sz="3999" b="1" dirty="0">
                <a:solidFill>
                  <a:srgbClr val="1D348A"/>
                </a:solidFill>
                <a:latin typeface="TT Chocolates Bold"/>
                <a:ea typeface="TT Chocolates Bold"/>
                <a:cs typeface="TT Chocolates Bold"/>
                <a:sym typeface="TT Chocolates Bold"/>
              </a:rPr>
              <a:t> </a:t>
            </a:r>
          </a:p>
        </p:txBody>
      </p:sp>
      <p:sp>
        <p:nvSpPr>
          <p:cNvPr id="101" name="Body 101"/>
          <p:cNvSpPr txBox="1"/>
          <p:nvPr/>
        </p:nvSpPr>
        <p:spPr>
          <a:xfrm>
            <a:off x="1001159" y="2951333"/>
            <a:ext cx="9200000" cy="5945000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marL="342900" indent="-342900" algn="l">
              <a:lnSpc>
                <a:spcPct val="130000"/>
              </a:lnSpc>
              <a:spcAft>
                <a:spcPts val="22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A Markov Decision Process models decision-making under uncertainty</a:t>
            </a:r>
          </a:p>
          <a:p>
            <a:pPr marL="342900" indent="-342900" algn="l">
              <a:lnSpc>
                <a:spcPct val="130000"/>
              </a:lnSpc>
              <a:spcAft>
                <a:spcPts val="22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An agent picks actions to maximize long-term reward, not just the next step</a:t>
            </a:r>
          </a:p>
          <a:p>
            <a:pPr marL="342900" indent="-342900" algn="l">
              <a:lnSpc>
                <a:spcPct val="130000"/>
              </a:lnSpc>
              <a:spcAft>
                <a:spcPts val="22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The next state depends only on the current state and action taken</a:t>
            </a:r>
          </a:p>
          <a:p>
            <a:pPr marL="342900" indent="-342900" algn="l">
              <a:lnSpc>
                <a:spcPct val="130000"/>
              </a:lnSpc>
              <a:spcAft>
                <a:spcPts val="22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Here: states = grid cells, actions = moves, rewards = safety + science</a:t>
            </a:r>
          </a:p>
        </p:txBody>
      </p:sp>
      <p:sp>
        <p:nvSpPr>
          <p:cNvPr id="102" name="Flow 102"/>
          <p:cNvSpPr/>
          <p:nvPr/>
        </p:nvSpPr>
        <p:spPr>
          <a:xfrm>
            <a:off x="10725429" y="3255000"/>
            <a:ext cx="6713383" cy="950000"/>
          </a:xfrm>
          <a:prstGeom prst="roundRect">
            <a:avLst>
              <a:gd name="adj" fmla="val 8000"/>
            </a:avLst>
          </a:prstGeom>
          <a:noFill/>
          <a:ln w="19050">
            <a:solidFill>
              <a:srgbClr val="162768"/>
            </a:solidFill>
          </a:ln>
        </p:spPr>
        <p:txBody>
          <a:bodyPr wrap="square" lIns="91440" tIns="45720" rIns="91440" bIns="45720" anchor="ctr"/>
          <a:lstStyle/>
          <a:p>
            <a:pPr algn="ctr"/>
            <a:r>
              <a:rPr lang="en-US" sz="1900" b="1" dirty="0">
                <a:solidFill>
                  <a:srgbClr val="1D348A"/>
                </a:solidFill>
                <a:latin typeface="Calibri"/>
                <a:cs typeface="Calibri"/>
              </a:rPr>
              <a:t>Agent observes the STATE</a:t>
            </a:r>
          </a:p>
        </p:txBody>
      </p:sp>
      <p:sp>
        <p:nvSpPr>
          <p:cNvPr id="103" name="Arrow 103"/>
          <p:cNvSpPr txBox="1"/>
          <p:nvPr/>
        </p:nvSpPr>
        <p:spPr>
          <a:xfrm>
            <a:off x="13882120" y="4205000"/>
            <a:ext cx="400000" cy="380000"/>
          </a:xfrm>
          <a:prstGeom prst="rect">
            <a:avLst/>
          </a:prstGeom>
        </p:spPr>
        <p:txBody>
          <a:bodyPr wrap="square" lIns="0" tIns="0" rIns="0" bIns="0" anchor="ctr"/>
          <a:lstStyle/>
          <a:p>
            <a:pPr algn="ctr"/>
            <a:r>
              <a:rPr lang="en-US" sz="2400" b="1" dirty="0">
                <a:solidFill>
                  <a:srgbClr val="162768"/>
                </a:solidFill>
              </a:rPr>
              <a:t>↓</a:t>
            </a:r>
          </a:p>
        </p:txBody>
      </p:sp>
      <p:sp>
        <p:nvSpPr>
          <p:cNvPr id="104" name="Flow 104"/>
          <p:cNvSpPr/>
          <p:nvPr/>
        </p:nvSpPr>
        <p:spPr>
          <a:xfrm>
            <a:off x="10725429" y="4585000"/>
            <a:ext cx="6713383" cy="950000"/>
          </a:xfrm>
          <a:prstGeom prst="roundRect">
            <a:avLst>
              <a:gd name="adj" fmla="val 8000"/>
            </a:avLst>
          </a:prstGeom>
          <a:noFill/>
          <a:ln w="19050">
            <a:solidFill>
              <a:srgbClr val="162768"/>
            </a:solidFill>
          </a:ln>
        </p:spPr>
        <p:txBody>
          <a:bodyPr wrap="square" lIns="91440" tIns="45720" rIns="91440" bIns="45720" anchor="ctr"/>
          <a:lstStyle/>
          <a:p>
            <a:pPr algn="ctr"/>
            <a:r>
              <a:rPr lang="en-US" sz="1900" b="1" dirty="0">
                <a:solidFill>
                  <a:srgbClr val="1D348A"/>
                </a:solidFill>
                <a:latin typeface="Calibri"/>
                <a:cs typeface="Calibri"/>
              </a:rPr>
              <a:t>Policy chooses an ACTION</a:t>
            </a:r>
          </a:p>
        </p:txBody>
      </p:sp>
      <p:sp>
        <p:nvSpPr>
          <p:cNvPr id="105" name="Arrow 105"/>
          <p:cNvSpPr txBox="1"/>
          <p:nvPr/>
        </p:nvSpPr>
        <p:spPr>
          <a:xfrm>
            <a:off x="13882120" y="5535000"/>
            <a:ext cx="400000" cy="380000"/>
          </a:xfrm>
          <a:prstGeom prst="rect">
            <a:avLst/>
          </a:prstGeom>
        </p:spPr>
        <p:txBody>
          <a:bodyPr wrap="square" lIns="0" tIns="0" rIns="0" bIns="0" anchor="ctr"/>
          <a:lstStyle/>
          <a:p>
            <a:pPr algn="ctr"/>
            <a:r>
              <a:rPr lang="en-US" sz="2400" b="1" dirty="0">
                <a:solidFill>
                  <a:srgbClr val="162768"/>
                </a:solidFill>
              </a:rPr>
              <a:t>↓</a:t>
            </a:r>
          </a:p>
        </p:txBody>
      </p:sp>
      <p:sp>
        <p:nvSpPr>
          <p:cNvPr id="106" name="Flow 106"/>
          <p:cNvSpPr/>
          <p:nvPr/>
        </p:nvSpPr>
        <p:spPr>
          <a:xfrm>
            <a:off x="10725429" y="5915000"/>
            <a:ext cx="6713383" cy="950000"/>
          </a:xfrm>
          <a:prstGeom prst="roundRect">
            <a:avLst>
              <a:gd name="adj" fmla="val 8000"/>
            </a:avLst>
          </a:prstGeom>
          <a:noFill/>
          <a:ln w="19050">
            <a:solidFill>
              <a:srgbClr val="162768"/>
            </a:solidFill>
          </a:ln>
        </p:spPr>
        <p:txBody>
          <a:bodyPr wrap="square" lIns="91440" tIns="45720" rIns="91440" bIns="45720" anchor="ctr"/>
          <a:lstStyle/>
          <a:p>
            <a:pPr algn="ctr"/>
            <a:r>
              <a:rPr lang="en-US" sz="1900" b="1" dirty="0">
                <a:solidFill>
                  <a:srgbClr val="1D348A"/>
                </a:solidFill>
                <a:latin typeface="Calibri"/>
                <a:cs typeface="Calibri"/>
              </a:rPr>
              <a:t>Environment returns REWARD + next STATE</a:t>
            </a:r>
          </a:p>
        </p:txBody>
      </p:sp>
      <p:sp>
        <p:nvSpPr>
          <p:cNvPr id="107" name="Arrow 107"/>
          <p:cNvSpPr txBox="1"/>
          <p:nvPr/>
        </p:nvSpPr>
        <p:spPr>
          <a:xfrm>
            <a:off x="13882120" y="6865000"/>
            <a:ext cx="400000" cy="380000"/>
          </a:xfrm>
          <a:prstGeom prst="rect">
            <a:avLst/>
          </a:prstGeom>
        </p:spPr>
        <p:txBody>
          <a:bodyPr wrap="square" lIns="0" tIns="0" rIns="0" bIns="0" anchor="ctr"/>
          <a:lstStyle/>
          <a:p>
            <a:pPr algn="ctr"/>
            <a:r>
              <a:rPr lang="en-US" sz="2400" b="1" dirty="0">
                <a:solidFill>
                  <a:srgbClr val="162768"/>
                </a:solidFill>
              </a:rPr>
              <a:t>↓</a:t>
            </a:r>
          </a:p>
        </p:txBody>
      </p:sp>
      <p:sp>
        <p:nvSpPr>
          <p:cNvPr id="108" name="Flow 108"/>
          <p:cNvSpPr/>
          <p:nvPr/>
        </p:nvSpPr>
        <p:spPr>
          <a:xfrm>
            <a:off x="10725429" y="7245000"/>
            <a:ext cx="6713383" cy="950000"/>
          </a:xfrm>
          <a:prstGeom prst="roundRect">
            <a:avLst>
              <a:gd name="adj" fmla="val 8000"/>
            </a:avLst>
          </a:prstGeom>
          <a:noFill/>
          <a:ln w="19050">
            <a:solidFill>
              <a:srgbClr val="162768"/>
            </a:solidFill>
          </a:ln>
        </p:spPr>
        <p:txBody>
          <a:bodyPr wrap="square" lIns="91440" tIns="45720" rIns="91440" bIns="45720" anchor="ctr"/>
          <a:lstStyle/>
          <a:p>
            <a:pPr algn="ctr"/>
            <a:r>
              <a:rPr lang="en-US" sz="1900" b="1" dirty="0">
                <a:solidFill>
                  <a:srgbClr val="1D348A"/>
                </a:solidFill>
                <a:latin typeface="Calibri"/>
                <a:cs typeface="Calibri"/>
              </a:rPr>
              <a:t>Repeat until the mission ends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111" b="-15111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525429" y="484602"/>
            <a:ext cx="17413383" cy="9456337"/>
            <a:chOff x="0" y="0"/>
            <a:chExt cx="4586241" cy="249055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586241" cy="2490558"/>
            </a:xfrm>
            <a:custGeom>
              <a:avLst/>
              <a:gdLst/>
              <a:ahLst/>
              <a:cxnLst/>
              <a:rect l="l" t="t" r="r" b="b"/>
              <a:pathLst>
                <a:path w="4586241" h="2490558">
                  <a:moveTo>
                    <a:pt x="22674" y="0"/>
                  </a:moveTo>
                  <a:lnTo>
                    <a:pt x="4563567" y="0"/>
                  </a:lnTo>
                  <a:cubicBezTo>
                    <a:pt x="4569580" y="0"/>
                    <a:pt x="4575347" y="2389"/>
                    <a:pt x="4579600" y="6641"/>
                  </a:cubicBezTo>
                  <a:cubicBezTo>
                    <a:pt x="4583852" y="10893"/>
                    <a:pt x="4586241" y="16661"/>
                    <a:pt x="4586241" y="22674"/>
                  </a:cubicBezTo>
                  <a:lnTo>
                    <a:pt x="4586241" y="2467883"/>
                  </a:lnTo>
                  <a:cubicBezTo>
                    <a:pt x="4586241" y="2480406"/>
                    <a:pt x="4576089" y="2490558"/>
                    <a:pt x="4563567" y="2490558"/>
                  </a:cubicBezTo>
                  <a:lnTo>
                    <a:pt x="22674" y="2490558"/>
                  </a:lnTo>
                  <a:cubicBezTo>
                    <a:pt x="16661" y="2490558"/>
                    <a:pt x="10893" y="2488169"/>
                    <a:pt x="6641" y="2483917"/>
                  </a:cubicBezTo>
                  <a:cubicBezTo>
                    <a:pt x="2389" y="2479664"/>
                    <a:pt x="0" y="2473897"/>
                    <a:pt x="0" y="2467883"/>
                  </a:cubicBezTo>
                  <a:lnTo>
                    <a:pt x="0" y="22674"/>
                  </a:lnTo>
                  <a:cubicBezTo>
                    <a:pt x="0" y="16661"/>
                    <a:pt x="2389" y="10893"/>
                    <a:pt x="6641" y="6641"/>
                  </a:cubicBezTo>
                  <a:cubicBezTo>
                    <a:pt x="10893" y="2389"/>
                    <a:pt x="16661" y="0"/>
                    <a:pt x="22674" y="0"/>
                  </a:cubicBezTo>
                  <a:close/>
                </a:path>
              </a:pathLst>
            </a:custGeom>
            <a:ln w="19050" cap="rnd">
              <a:solidFill>
                <a:srgbClr val="162768"/>
              </a:solidFill>
              <a:prstDash val="solid"/>
              <a:round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4586241" cy="25381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8821860" y="109527"/>
            <a:ext cx="644280" cy="644280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E1943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8930173" y="210613"/>
            <a:ext cx="427653" cy="442109"/>
          </a:xfrm>
          <a:custGeom>
            <a:avLst/>
            <a:gdLst/>
            <a:ahLst/>
            <a:cxnLst/>
            <a:rect l="l" t="t" r="r" b="b"/>
            <a:pathLst>
              <a:path w="427653" h="442109">
                <a:moveTo>
                  <a:pt x="0" y="0"/>
                </a:moveTo>
                <a:lnTo>
                  <a:pt x="427654" y="0"/>
                </a:lnTo>
                <a:lnTo>
                  <a:pt x="427654" y="442109"/>
                </a:lnTo>
                <a:lnTo>
                  <a:pt x="0" y="44210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10" name="Group 10"/>
          <p:cNvGrpSpPr/>
          <p:nvPr/>
        </p:nvGrpSpPr>
        <p:grpSpPr>
          <a:xfrm>
            <a:off x="8821860" y="9533193"/>
            <a:ext cx="644280" cy="644280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E1943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13" name="Freeform 13"/>
          <p:cNvSpPr/>
          <p:nvPr/>
        </p:nvSpPr>
        <p:spPr>
          <a:xfrm>
            <a:off x="8930173" y="9634278"/>
            <a:ext cx="427653" cy="442109"/>
          </a:xfrm>
          <a:custGeom>
            <a:avLst/>
            <a:gdLst/>
            <a:ahLst/>
            <a:cxnLst/>
            <a:rect l="l" t="t" r="r" b="b"/>
            <a:pathLst>
              <a:path w="427653" h="442109">
                <a:moveTo>
                  <a:pt x="0" y="0"/>
                </a:moveTo>
                <a:lnTo>
                  <a:pt x="427654" y="0"/>
                </a:lnTo>
                <a:lnTo>
                  <a:pt x="427654" y="442109"/>
                </a:lnTo>
                <a:lnTo>
                  <a:pt x="0" y="44210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4" name="TextBox 14"/>
          <p:cNvSpPr txBox="1"/>
          <p:nvPr/>
        </p:nvSpPr>
        <p:spPr>
          <a:xfrm>
            <a:off x="1101629" y="1944071"/>
            <a:ext cx="9832431" cy="574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00"/>
              </a:lnSpc>
            </a:pPr>
            <a:r>
              <a:rPr lang="en-US" sz="5000" b="1" spc="-380" dirty="0">
                <a:solidFill>
                  <a:srgbClr val="1D348A"/>
                </a:solidFill>
                <a:latin typeface="Roca Two Heavy"/>
                <a:ea typeface="Roca Two Heavy"/>
                <a:cs typeface="Roca Two Heavy"/>
                <a:sym typeface="Roca Two Heavy"/>
              </a:rPr>
              <a:t>The MDP Formulation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39299" y="2783213"/>
            <a:ext cx="16185642" cy="6889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599"/>
              </a:lnSpc>
              <a:spcBef>
                <a:spcPct val="0"/>
              </a:spcBef>
            </a:pPr>
            <a:r>
              <a:rPr lang="en-US" sz="3999" b="1" dirty="0">
                <a:solidFill>
                  <a:srgbClr val="1D348A"/>
                </a:solidFill>
                <a:latin typeface="TT Chocolates Bold"/>
                <a:ea typeface="TT Chocolates Bold"/>
                <a:cs typeface="TT Chocolates Bold"/>
                <a:sym typeface="TT Chocolates Bold"/>
              </a:rPr>
              <a:t> </a:t>
            </a:r>
          </a:p>
        </p:txBody>
      </p:sp>
      <p:sp>
        <p:nvSpPr>
          <p:cNvPr id="101" name="Body 101"/>
          <p:cNvSpPr txBox="1"/>
          <p:nvPr/>
        </p:nvSpPr>
        <p:spPr>
          <a:xfrm>
            <a:off x="1063529" y="3333451"/>
            <a:ext cx="9200000" cy="4874700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marL="342900" indent="-342900" algn="l">
              <a:lnSpc>
                <a:spcPct val="130000"/>
              </a:lnSpc>
              <a:spcAft>
                <a:spcPts val="22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States: every walkable grid cell (rock excluded)</a:t>
            </a:r>
          </a:p>
          <a:p>
            <a:pPr marL="342900" indent="-342900" algn="l">
              <a:lnSpc>
                <a:spcPct val="130000"/>
              </a:lnSpc>
              <a:spcAft>
                <a:spcPts val="22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Actions: up / down / left / right / stay / scan</a:t>
            </a:r>
          </a:p>
          <a:p>
            <a:pPr marL="342900" indent="-342900" algn="l">
              <a:lnSpc>
                <a:spcPct val="130000"/>
              </a:lnSpc>
              <a:spcAft>
                <a:spcPts val="22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Transitions: 75% intended, 10% drift each side, 5% stall</a:t>
            </a:r>
          </a:p>
          <a:p>
            <a:pPr marL="342900" indent="-342900" algn="l">
              <a:lnSpc>
                <a:spcPct val="130000"/>
              </a:lnSpc>
              <a:spcAft>
                <a:spcPts val="22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Rewards: science +20, base +5, safe −1, gas −15, crater −40, lava −100</a:t>
            </a:r>
          </a:p>
          <a:p>
            <a:pPr marL="342900" indent="-342900" algn="l">
              <a:lnSpc>
                <a:spcPct val="130000"/>
              </a:lnSpc>
              <a:spcAft>
                <a:spcPts val="22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Solved exactly with value iteration</a:t>
            </a:r>
          </a:p>
        </p:txBody>
      </p:sp>
      <p:sp>
        <p:nvSpPr>
          <p:cNvPr id="102" name="Bellman Card"/>
          <p:cNvSpPr/>
          <p:nvPr/>
        </p:nvSpPr>
        <p:spPr>
          <a:xfrm>
            <a:off x="10725429" y="4525000"/>
            <a:ext cx="6713383" cy="2400000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162768"/>
            </a:solidFill>
          </a:ln>
        </p:spPr>
        <p:txBody>
          <a:bodyPr wrap="square" lIns="228600" tIns="228600" rIns="228600" bIns="228600" anchor="ctr"/>
          <a:lstStyle/>
          <a:p>
            <a:pPr algn="ctr"/>
            <a:r>
              <a:rPr lang="en-US" sz="2400" b="1" i="1" dirty="0">
                <a:solidFill>
                  <a:srgbClr val="1D348A"/>
                </a:solidFill>
                <a:latin typeface="Cambria"/>
                <a:cs typeface="Cambria"/>
              </a:rPr>
              <a:t>V(s) = max_a Σ P(s'|s,a) [R(s,a,s') + γV(s')]</a:t>
            </a:r>
          </a:p>
          <a:p>
            <a:pPr algn="ctr">
              <a:spcBef>
                <a:spcPts val="1400"/>
              </a:spcBef>
            </a:pPr>
            <a:r>
              <a:rPr lang="en-US" sz="1600" i="1" dirty="0">
                <a:solidFill>
                  <a:srgbClr val="0E1943"/>
                </a:solidFill>
                <a:latin typeface="Calibri"/>
                <a:cs typeface="Calibri"/>
              </a:rPr>
              <a:t>The Bellman backup, repeated until convergence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111" b="-15111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525429" y="484602"/>
            <a:ext cx="17413383" cy="9456337"/>
            <a:chOff x="0" y="0"/>
            <a:chExt cx="4586241" cy="249055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586241" cy="2490558"/>
            </a:xfrm>
            <a:custGeom>
              <a:avLst/>
              <a:gdLst/>
              <a:ahLst/>
              <a:cxnLst/>
              <a:rect l="l" t="t" r="r" b="b"/>
              <a:pathLst>
                <a:path w="4586241" h="2490558">
                  <a:moveTo>
                    <a:pt x="22674" y="0"/>
                  </a:moveTo>
                  <a:lnTo>
                    <a:pt x="4563567" y="0"/>
                  </a:lnTo>
                  <a:cubicBezTo>
                    <a:pt x="4569580" y="0"/>
                    <a:pt x="4575347" y="2389"/>
                    <a:pt x="4579600" y="6641"/>
                  </a:cubicBezTo>
                  <a:cubicBezTo>
                    <a:pt x="4583852" y="10893"/>
                    <a:pt x="4586241" y="16661"/>
                    <a:pt x="4586241" y="22674"/>
                  </a:cubicBezTo>
                  <a:lnTo>
                    <a:pt x="4586241" y="2467883"/>
                  </a:lnTo>
                  <a:cubicBezTo>
                    <a:pt x="4586241" y="2480406"/>
                    <a:pt x="4576089" y="2490558"/>
                    <a:pt x="4563567" y="2490558"/>
                  </a:cubicBezTo>
                  <a:lnTo>
                    <a:pt x="22674" y="2490558"/>
                  </a:lnTo>
                  <a:cubicBezTo>
                    <a:pt x="16661" y="2490558"/>
                    <a:pt x="10893" y="2488169"/>
                    <a:pt x="6641" y="2483917"/>
                  </a:cubicBezTo>
                  <a:cubicBezTo>
                    <a:pt x="2389" y="2479664"/>
                    <a:pt x="0" y="2473897"/>
                    <a:pt x="0" y="2467883"/>
                  </a:cubicBezTo>
                  <a:lnTo>
                    <a:pt x="0" y="22674"/>
                  </a:lnTo>
                  <a:cubicBezTo>
                    <a:pt x="0" y="16661"/>
                    <a:pt x="2389" y="10893"/>
                    <a:pt x="6641" y="6641"/>
                  </a:cubicBezTo>
                  <a:cubicBezTo>
                    <a:pt x="10893" y="2389"/>
                    <a:pt x="16661" y="0"/>
                    <a:pt x="22674" y="0"/>
                  </a:cubicBezTo>
                  <a:close/>
                </a:path>
              </a:pathLst>
            </a:custGeom>
            <a:ln w="19050" cap="rnd">
              <a:solidFill>
                <a:srgbClr val="162768"/>
              </a:solidFill>
              <a:prstDash val="solid"/>
              <a:round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4586241" cy="25381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8821860" y="109527"/>
            <a:ext cx="644280" cy="644280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E1943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8930173" y="210613"/>
            <a:ext cx="427653" cy="442109"/>
          </a:xfrm>
          <a:custGeom>
            <a:avLst/>
            <a:gdLst/>
            <a:ahLst/>
            <a:cxnLst/>
            <a:rect l="l" t="t" r="r" b="b"/>
            <a:pathLst>
              <a:path w="427653" h="442109">
                <a:moveTo>
                  <a:pt x="0" y="0"/>
                </a:moveTo>
                <a:lnTo>
                  <a:pt x="427654" y="0"/>
                </a:lnTo>
                <a:lnTo>
                  <a:pt x="427654" y="442109"/>
                </a:lnTo>
                <a:lnTo>
                  <a:pt x="0" y="44210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10" name="Group 10"/>
          <p:cNvGrpSpPr/>
          <p:nvPr/>
        </p:nvGrpSpPr>
        <p:grpSpPr>
          <a:xfrm>
            <a:off x="8821860" y="9533193"/>
            <a:ext cx="644280" cy="644280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E1943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13" name="Freeform 13"/>
          <p:cNvSpPr/>
          <p:nvPr/>
        </p:nvSpPr>
        <p:spPr>
          <a:xfrm>
            <a:off x="8930173" y="9634278"/>
            <a:ext cx="427653" cy="442109"/>
          </a:xfrm>
          <a:custGeom>
            <a:avLst/>
            <a:gdLst/>
            <a:ahLst/>
            <a:cxnLst/>
            <a:rect l="l" t="t" r="r" b="b"/>
            <a:pathLst>
              <a:path w="427653" h="442109">
                <a:moveTo>
                  <a:pt x="0" y="0"/>
                </a:moveTo>
                <a:lnTo>
                  <a:pt x="427654" y="0"/>
                </a:lnTo>
                <a:lnTo>
                  <a:pt x="427654" y="442109"/>
                </a:lnTo>
                <a:lnTo>
                  <a:pt x="0" y="44210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4" name="TextBox 14"/>
          <p:cNvSpPr txBox="1"/>
          <p:nvPr/>
        </p:nvSpPr>
        <p:spPr>
          <a:xfrm>
            <a:off x="1373319" y="1306139"/>
            <a:ext cx="9832431" cy="574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00"/>
              </a:lnSpc>
            </a:pPr>
            <a:r>
              <a:rPr lang="en-US" sz="5000" b="1" spc="-380">
                <a:solidFill>
                  <a:srgbClr val="1D348A"/>
                </a:solidFill>
                <a:latin typeface="Roca Two Heavy"/>
                <a:ea typeface="Roca Two Heavy"/>
                <a:cs typeface="Roca Two Heavy"/>
                <a:sym typeface="Roca Two Heavy"/>
              </a:rPr>
              <a:t>The Computed Policy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39299" y="2783213"/>
            <a:ext cx="16185642" cy="6889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599"/>
              </a:lnSpc>
              <a:spcBef>
                <a:spcPct val="0"/>
              </a:spcBef>
            </a:pPr>
            <a:r>
              <a:rPr lang="en-US" sz="3999" b="1" dirty="0">
                <a:solidFill>
                  <a:srgbClr val="1D348A"/>
                </a:solidFill>
                <a:latin typeface="TT Chocolates Bold"/>
                <a:ea typeface="TT Chocolates Bold"/>
                <a:cs typeface="TT Chocolates Bold"/>
                <a:sym typeface="TT Chocolates Bold"/>
              </a:rPr>
              <a:t> </a:t>
            </a:r>
          </a:p>
        </p:txBody>
      </p:sp>
      <p:pic>
        <p:nvPicPr>
          <p:cNvPr id="101" name="Policy Map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5429" y="2425000"/>
            <a:ext cx="7291501" cy="6600000"/>
          </a:xfrm>
          <a:prstGeom prst="rect">
            <a:avLst/>
          </a:prstGeom>
          <a:ln w="12700">
            <a:solidFill>
              <a:srgbClr val="162768"/>
            </a:solidFill>
          </a:ln>
        </p:spPr>
      </p:pic>
      <p:sp>
        <p:nvSpPr>
          <p:cNvPr id="102" name="Body 102"/>
          <p:cNvSpPr txBox="1"/>
          <p:nvPr/>
        </p:nvSpPr>
        <p:spPr>
          <a:xfrm>
            <a:off x="8930173" y="3096375"/>
            <a:ext cx="8621882" cy="5095125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marL="342900" indent="-342900" algn="l">
              <a:lnSpc>
                <a:spcPct val="130000"/>
              </a:lnSpc>
              <a:spcAft>
                <a:spcPts val="28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One optimal action per cell - a complete plan, not one path</a:t>
            </a:r>
          </a:p>
          <a:p>
            <a:pPr marL="342900" indent="-342900" algn="l">
              <a:lnSpc>
                <a:spcPct val="130000"/>
              </a:lnSpc>
              <a:spcAft>
                <a:spcPts val="28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The flow bends around lava and craters, converging on science and base</a:t>
            </a:r>
          </a:p>
          <a:p>
            <a:pPr marL="342900" indent="-342900" algn="l">
              <a:lnSpc>
                <a:spcPct val="130000"/>
              </a:lnSpc>
              <a:spcAft>
                <a:spcPts val="28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Robust by construction, even a slip lands on a cell that already has a plan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111" b="-15111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525429" y="484602"/>
            <a:ext cx="17413383" cy="9456337"/>
            <a:chOff x="0" y="0"/>
            <a:chExt cx="4586241" cy="249055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586241" cy="2490558"/>
            </a:xfrm>
            <a:custGeom>
              <a:avLst/>
              <a:gdLst/>
              <a:ahLst/>
              <a:cxnLst/>
              <a:rect l="l" t="t" r="r" b="b"/>
              <a:pathLst>
                <a:path w="4586241" h="2490558">
                  <a:moveTo>
                    <a:pt x="22674" y="0"/>
                  </a:moveTo>
                  <a:lnTo>
                    <a:pt x="4563567" y="0"/>
                  </a:lnTo>
                  <a:cubicBezTo>
                    <a:pt x="4569580" y="0"/>
                    <a:pt x="4575347" y="2389"/>
                    <a:pt x="4579600" y="6641"/>
                  </a:cubicBezTo>
                  <a:cubicBezTo>
                    <a:pt x="4583852" y="10893"/>
                    <a:pt x="4586241" y="16661"/>
                    <a:pt x="4586241" y="22674"/>
                  </a:cubicBezTo>
                  <a:lnTo>
                    <a:pt x="4586241" y="2467883"/>
                  </a:lnTo>
                  <a:cubicBezTo>
                    <a:pt x="4586241" y="2480406"/>
                    <a:pt x="4576089" y="2490558"/>
                    <a:pt x="4563567" y="2490558"/>
                  </a:cubicBezTo>
                  <a:lnTo>
                    <a:pt x="22674" y="2490558"/>
                  </a:lnTo>
                  <a:cubicBezTo>
                    <a:pt x="16661" y="2490558"/>
                    <a:pt x="10893" y="2488169"/>
                    <a:pt x="6641" y="2483917"/>
                  </a:cubicBezTo>
                  <a:cubicBezTo>
                    <a:pt x="2389" y="2479664"/>
                    <a:pt x="0" y="2473897"/>
                    <a:pt x="0" y="2467883"/>
                  </a:cubicBezTo>
                  <a:lnTo>
                    <a:pt x="0" y="22674"/>
                  </a:lnTo>
                  <a:cubicBezTo>
                    <a:pt x="0" y="16661"/>
                    <a:pt x="2389" y="10893"/>
                    <a:pt x="6641" y="6641"/>
                  </a:cubicBezTo>
                  <a:cubicBezTo>
                    <a:pt x="10893" y="2389"/>
                    <a:pt x="16661" y="0"/>
                    <a:pt x="22674" y="0"/>
                  </a:cubicBezTo>
                  <a:close/>
                </a:path>
              </a:pathLst>
            </a:custGeom>
            <a:ln w="19050" cap="rnd">
              <a:solidFill>
                <a:srgbClr val="162768"/>
              </a:solidFill>
              <a:prstDash val="solid"/>
              <a:round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4586241" cy="25381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8821860" y="109527"/>
            <a:ext cx="644280" cy="644280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E1943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8930173" y="210613"/>
            <a:ext cx="427653" cy="442109"/>
          </a:xfrm>
          <a:custGeom>
            <a:avLst/>
            <a:gdLst/>
            <a:ahLst/>
            <a:cxnLst/>
            <a:rect l="l" t="t" r="r" b="b"/>
            <a:pathLst>
              <a:path w="427653" h="442109">
                <a:moveTo>
                  <a:pt x="0" y="0"/>
                </a:moveTo>
                <a:lnTo>
                  <a:pt x="427654" y="0"/>
                </a:lnTo>
                <a:lnTo>
                  <a:pt x="427654" y="442109"/>
                </a:lnTo>
                <a:lnTo>
                  <a:pt x="0" y="44210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10" name="Group 10"/>
          <p:cNvGrpSpPr/>
          <p:nvPr/>
        </p:nvGrpSpPr>
        <p:grpSpPr>
          <a:xfrm>
            <a:off x="8821860" y="9533193"/>
            <a:ext cx="644280" cy="644280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E1943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13" name="Freeform 13"/>
          <p:cNvSpPr/>
          <p:nvPr/>
        </p:nvSpPr>
        <p:spPr>
          <a:xfrm>
            <a:off x="8930173" y="9634278"/>
            <a:ext cx="427653" cy="442109"/>
          </a:xfrm>
          <a:custGeom>
            <a:avLst/>
            <a:gdLst/>
            <a:ahLst/>
            <a:cxnLst/>
            <a:rect l="l" t="t" r="r" b="b"/>
            <a:pathLst>
              <a:path w="427653" h="442109">
                <a:moveTo>
                  <a:pt x="0" y="0"/>
                </a:moveTo>
                <a:lnTo>
                  <a:pt x="427654" y="0"/>
                </a:lnTo>
                <a:lnTo>
                  <a:pt x="427654" y="442109"/>
                </a:lnTo>
                <a:lnTo>
                  <a:pt x="0" y="44210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4" name="TextBox 14"/>
          <p:cNvSpPr txBox="1"/>
          <p:nvPr/>
        </p:nvSpPr>
        <p:spPr>
          <a:xfrm>
            <a:off x="1373319" y="1306139"/>
            <a:ext cx="9832431" cy="574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00"/>
              </a:lnSpc>
            </a:pPr>
            <a:r>
              <a:rPr lang="en-US" sz="4600" b="1" spc="-380">
                <a:solidFill>
                  <a:srgbClr val="1D348A"/>
                </a:solidFill>
                <a:latin typeface="Roca Two Heavy"/>
                <a:ea typeface="Roca Two Heavy"/>
                <a:cs typeface="Roca Two Heavy"/>
                <a:sym typeface="Roca Two Heavy"/>
              </a:rPr>
              <a:t>Adaptive Behavior: Re-Planning &amp; Hazards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39299" y="2783213"/>
            <a:ext cx="16185642" cy="6889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599"/>
              </a:lnSpc>
              <a:spcBef>
                <a:spcPct val="0"/>
              </a:spcBef>
            </a:pPr>
            <a:r>
              <a:rPr lang="en-US" sz="3999" b="1" dirty="0">
                <a:solidFill>
                  <a:srgbClr val="1D348A"/>
                </a:solidFill>
                <a:latin typeface="TT Chocolates Bold"/>
                <a:ea typeface="TT Chocolates Bold"/>
                <a:cs typeface="TT Chocolates Bold"/>
                <a:sym typeface="TT Chocolates Bold"/>
              </a:rPr>
              <a:t> </a:t>
            </a:r>
          </a:p>
        </p:txBody>
      </p:sp>
      <p:sp>
        <p:nvSpPr>
          <p:cNvPr id="101" name="Body 101"/>
          <p:cNvSpPr txBox="1"/>
          <p:nvPr/>
        </p:nvSpPr>
        <p:spPr>
          <a:xfrm>
            <a:off x="1025429" y="2778610"/>
            <a:ext cx="9200000" cy="5691817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marL="342900" indent="-342900" algn="l">
              <a:lnSpc>
                <a:spcPct val="130000"/>
              </a:lnSpc>
              <a:spcAft>
                <a:spcPts val="22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Collect-once rule: a sample is gathered once, then the cell resets to safe ground</a:t>
            </a:r>
          </a:p>
          <a:p>
            <a:pPr marL="342900" indent="-342900" algn="l">
              <a:lnSpc>
                <a:spcPct val="130000"/>
              </a:lnSpc>
              <a:spcAft>
                <a:spcPts val="22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The agent instantly re-runs value iteration after every collection</a:t>
            </a:r>
          </a:p>
          <a:p>
            <a:pPr marL="342900" indent="-342900" algn="l">
              <a:lnSpc>
                <a:spcPct val="130000"/>
              </a:lnSpc>
              <a:spcAft>
                <a:spcPts val="22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Gas drifts (15% per step) and lava spreads (8% per step) into safe neighbors</a:t>
            </a:r>
          </a:p>
          <a:p>
            <a:pPr marL="342900" indent="-342900" algn="l">
              <a:lnSpc>
                <a:spcPct val="130000"/>
              </a:lnSpc>
              <a:spcAft>
                <a:spcPts val="22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Any terrain change triggers a fresh re-plan; a lava flow reaching the rover ends the mission</a:t>
            </a:r>
          </a:p>
        </p:txBody>
      </p:sp>
      <p:pic>
        <p:nvPicPr>
          <p:cNvPr id="102" name="Hazards Afte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25429" y="2778610"/>
            <a:ext cx="6713383" cy="5892779"/>
          </a:xfrm>
          <a:prstGeom prst="rect">
            <a:avLst/>
          </a:prstGeom>
          <a:ln w="12700">
            <a:solidFill>
              <a:srgbClr val="162768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111" b="-15111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525429" y="484602"/>
            <a:ext cx="17413383" cy="9456337"/>
            <a:chOff x="0" y="0"/>
            <a:chExt cx="4586241" cy="249055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586241" cy="2490558"/>
            </a:xfrm>
            <a:custGeom>
              <a:avLst/>
              <a:gdLst/>
              <a:ahLst/>
              <a:cxnLst/>
              <a:rect l="l" t="t" r="r" b="b"/>
              <a:pathLst>
                <a:path w="4586241" h="2490558">
                  <a:moveTo>
                    <a:pt x="22674" y="0"/>
                  </a:moveTo>
                  <a:lnTo>
                    <a:pt x="4563567" y="0"/>
                  </a:lnTo>
                  <a:cubicBezTo>
                    <a:pt x="4569580" y="0"/>
                    <a:pt x="4575347" y="2389"/>
                    <a:pt x="4579600" y="6641"/>
                  </a:cubicBezTo>
                  <a:cubicBezTo>
                    <a:pt x="4583852" y="10893"/>
                    <a:pt x="4586241" y="16661"/>
                    <a:pt x="4586241" y="22674"/>
                  </a:cubicBezTo>
                  <a:lnTo>
                    <a:pt x="4586241" y="2467883"/>
                  </a:lnTo>
                  <a:cubicBezTo>
                    <a:pt x="4586241" y="2480406"/>
                    <a:pt x="4576089" y="2490558"/>
                    <a:pt x="4563567" y="2490558"/>
                  </a:cubicBezTo>
                  <a:lnTo>
                    <a:pt x="22674" y="2490558"/>
                  </a:lnTo>
                  <a:cubicBezTo>
                    <a:pt x="16661" y="2490558"/>
                    <a:pt x="10893" y="2488169"/>
                    <a:pt x="6641" y="2483917"/>
                  </a:cubicBezTo>
                  <a:cubicBezTo>
                    <a:pt x="2389" y="2479664"/>
                    <a:pt x="0" y="2473897"/>
                    <a:pt x="0" y="2467883"/>
                  </a:cubicBezTo>
                  <a:lnTo>
                    <a:pt x="0" y="22674"/>
                  </a:lnTo>
                  <a:cubicBezTo>
                    <a:pt x="0" y="16661"/>
                    <a:pt x="2389" y="10893"/>
                    <a:pt x="6641" y="6641"/>
                  </a:cubicBezTo>
                  <a:cubicBezTo>
                    <a:pt x="10893" y="2389"/>
                    <a:pt x="16661" y="0"/>
                    <a:pt x="22674" y="0"/>
                  </a:cubicBezTo>
                  <a:close/>
                </a:path>
              </a:pathLst>
            </a:custGeom>
            <a:ln w="19050" cap="rnd">
              <a:solidFill>
                <a:srgbClr val="162768"/>
              </a:solidFill>
              <a:prstDash val="solid"/>
              <a:round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4586241" cy="25381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8821860" y="109527"/>
            <a:ext cx="644280" cy="644280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E1943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8930173" y="210613"/>
            <a:ext cx="427653" cy="442109"/>
          </a:xfrm>
          <a:custGeom>
            <a:avLst/>
            <a:gdLst/>
            <a:ahLst/>
            <a:cxnLst/>
            <a:rect l="l" t="t" r="r" b="b"/>
            <a:pathLst>
              <a:path w="427653" h="442109">
                <a:moveTo>
                  <a:pt x="0" y="0"/>
                </a:moveTo>
                <a:lnTo>
                  <a:pt x="427654" y="0"/>
                </a:lnTo>
                <a:lnTo>
                  <a:pt x="427654" y="442109"/>
                </a:lnTo>
                <a:lnTo>
                  <a:pt x="0" y="44210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10" name="Group 10"/>
          <p:cNvGrpSpPr/>
          <p:nvPr/>
        </p:nvGrpSpPr>
        <p:grpSpPr>
          <a:xfrm>
            <a:off x="8821860" y="9533193"/>
            <a:ext cx="644280" cy="644280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E1943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13" name="Freeform 13"/>
          <p:cNvSpPr/>
          <p:nvPr/>
        </p:nvSpPr>
        <p:spPr>
          <a:xfrm>
            <a:off x="8930173" y="9634278"/>
            <a:ext cx="427653" cy="442109"/>
          </a:xfrm>
          <a:custGeom>
            <a:avLst/>
            <a:gdLst/>
            <a:ahLst/>
            <a:cxnLst/>
            <a:rect l="l" t="t" r="r" b="b"/>
            <a:pathLst>
              <a:path w="427653" h="442109">
                <a:moveTo>
                  <a:pt x="0" y="0"/>
                </a:moveTo>
                <a:lnTo>
                  <a:pt x="427654" y="0"/>
                </a:lnTo>
                <a:lnTo>
                  <a:pt x="427654" y="442109"/>
                </a:lnTo>
                <a:lnTo>
                  <a:pt x="0" y="44210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4" name="TextBox 14"/>
          <p:cNvSpPr txBox="1"/>
          <p:nvPr/>
        </p:nvSpPr>
        <p:spPr>
          <a:xfrm>
            <a:off x="1373319" y="1306139"/>
            <a:ext cx="9832431" cy="574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00"/>
              </a:lnSpc>
            </a:pPr>
            <a:r>
              <a:rPr lang="en-US" sz="5000" b="1" spc="-380">
                <a:solidFill>
                  <a:srgbClr val="1D348A"/>
                </a:solidFill>
                <a:latin typeface="Roca Two Heavy"/>
                <a:ea typeface="Roca Two Heavy"/>
                <a:cs typeface="Roca Two Heavy"/>
                <a:sym typeface="Roca Two Heavy"/>
              </a:rPr>
              <a:t>A Completed Mission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39299" y="2783213"/>
            <a:ext cx="16185642" cy="6889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599"/>
              </a:lnSpc>
              <a:spcBef>
                <a:spcPct val="0"/>
              </a:spcBef>
            </a:pPr>
            <a:r>
              <a:rPr lang="en-US" sz="3999" b="1" dirty="0">
                <a:solidFill>
                  <a:srgbClr val="1D348A"/>
                </a:solidFill>
                <a:latin typeface="TT Chocolates Bold"/>
                <a:ea typeface="TT Chocolates Bold"/>
                <a:cs typeface="TT Chocolates Bold"/>
                <a:sym typeface="TT Chocolates Bold"/>
              </a:rPr>
              <a:t> </a:t>
            </a:r>
          </a:p>
        </p:txBody>
      </p:sp>
      <p:pic>
        <p:nvPicPr>
          <p:cNvPr id="101" name="Final Map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80653" y="2250000"/>
            <a:ext cx="7102935" cy="5180000"/>
          </a:xfrm>
          <a:prstGeom prst="rect">
            <a:avLst/>
          </a:prstGeom>
          <a:ln w="12700">
            <a:solidFill>
              <a:srgbClr val="162768"/>
            </a:solidFill>
          </a:ln>
        </p:spPr>
      </p:pic>
      <p:sp>
        <p:nvSpPr>
          <p:cNvPr id="102" name="Caption"/>
          <p:cNvSpPr txBox="1"/>
          <p:nvPr/>
        </p:nvSpPr>
        <p:spPr>
          <a:xfrm>
            <a:off x="1025429" y="7600000"/>
            <a:ext cx="16413383" cy="380000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algn="ctr"/>
            <a:r>
              <a:rPr lang="en-US" sz="1800" i="1" dirty="0">
                <a:solidFill>
                  <a:srgbClr val="0E1943"/>
                </a:solidFill>
                <a:latin typeface="Calibri"/>
                <a:cs typeface="Calibri"/>
              </a:rPr>
              <a:t>Seed 42, dynamic hazards ON</a:t>
            </a:r>
          </a:p>
        </p:txBody>
      </p:sp>
      <p:sp>
        <p:nvSpPr>
          <p:cNvPr id="103" name="Stat 103"/>
          <p:cNvSpPr txBox="1"/>
          <p:nvPr/>
        </p:nvSpPr>
        <p:spPr>
          <a:xfrm>
            <a:off x="1025429" y="8150000"/>
            <a:ext cx="5137794" cy="1050000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algn="ctr"/>
            <a:r>
              <a:rPr lang="en-US" sz="5000" b="1" dirty="0">
                <a:solidFill>
                  <a:srgbClr val="1D348A"/>
                </a:solidFill>
                <a:latin typeface="Cambria"/>
                <a:cs typeface="Cambria"/>
              </a:rPr>
              <a:t>24</a:t>
            </a:r>
          </a:p>
          <a:p>
            <a:pPr algn="ctr"/>
            <a:r>
              <a:rPr lang="en-US" sz="1700" dirty="0">
                <a:solidFill>
                  <a:srgbClr val="0E1943"/>
                </a:solidFill>
                <a:latin typeface="Calibri"/>
                <a:cs typeface="Calibri"/>
              </a:rPr>
              <a:t>Steps Taken</a:t>
            </a:r>
          </a:p>
        </p:txBody>
      </p:sp>
      <p:sp>
        <p:nvSpPr>
          <p:cNvPr id="104" name="Stat 104"/>
          <p:cNvSpPr txBox="1"/>
          <p:nvPr/>
        </p:nvSpPr>
        <p:spPr>
          <a:xfrm>
            <a:off x="6663223" y="8150000"/>
            <a:ext cx="5137794" cy="1050000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algn="ctr"/>
            <a:r>
              <a:rPr lang="en-US" sz="5000" b="1" dirty="0">
                <a:solidFill>
                  <a:srgbClr val="1D348A"/>
                </a:solidFill>
                <a:latin typeface="Cambria"/>
                <a:cs typeface="Cambria"/>
              </a:rPr>
              <a:t>2</a:t>
            </a:r>
          </a:p>
          <a:p>
            <a:pPr algn="ctr"/>
            <a:r>
              <a:rPr lang="en-US" sz="1700" dirty="0">
                <a:solidFill>
                  <a:srgbClr val="0E1943"/>
                </a:solidFill>
                <a:latin typeface="Calibri"/>
                <a:cs typeface="Calibri"/>
              </a:rPr>
              <a:t>Science Samples Collected</a:t>
            </a:r>
          </a:p>
        </p:txBody>
      </p:sp>
      <p:sp>
        <p:nvSpPr>
          <p:cNvPr id="105" name="Stat 105"/>
          <p:cNvSpPr txBox="1"/>
          <p:nvPr/>
        </p:nvSpPr>
        <p:spPr>
          <a:xfrm>
            <a:off x="12301017" y="8150000"/>
            <a:ext cx="5137794" cy="1050000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algn="ctr"/>
            <a:r>
              <a:rPr lang="en-US" sz="5000" b="1" dirty="0">
                <a:solidFill>
                  <a:srgbClr val="1D348A"/>
                </a:solidFill>
                <a:latin typeface="Cambria"/>
                <a:cs typeface="Cambria"/>
              </a:rPr>
              <a:t>71</a:t>
            </a:r>
          </a:p>
          <a:p>
            <a:pPr algn="ctr"/>
            <a:r>
              <a:rPr lang="en-US" sz="1700" dirty="0">
                <a:solidFill>
                  <a:srgbClr val="0E1943"/>
                </a:solidFill>
                <a:latin typeface="Calibri"/>
                <a:cs typeface="Calibri"/>
              </a:rPr>
              <a:t>Hazard Events Survived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111" b="-15111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525429" y="484602"/>
            <a:ext cx="17413383" cy="9456337"/>
            <a:chOff x="0" y="0"/>
            <a:chExt cx="4586241" cy="249055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586241" cy="2490558"/>
            </a:xfrm>
            <a:custGeom>
              <a:avLst/>
              <a:gdLst/>
              <a:ahLst/>
              <a:cxnLst/>
              <a:rect l="l" t="t" r="r" b="b"/>
              <a:pathLst>
                <a:path w="4586241" h="2490558">
                  <a:moveTo>
                    <a:pt x="22674" y="0"/>
                  </a:moveTo>
                  <a:lnTo>
                    <a:pt x="4563567" y="0"/>
                  </a:lnTo>
                  <a:cubicBezTo>
                    <a:pt x="4569580" y="0"/>
                    <a:pt x="4575347" y="2389"/>
                    <a:pt x="4579600" y="6641"/>
                  </a:cubicBezTo>
                  <a:cubicBezTo>
                    <a:pt x="4583852" y="10893"/>
                    <a:pt x="4586241" y="16661"/>
                    <a:pt x="4586241" y="22674"/>
                  </a:cubicBezTo>
                  <a:lnTo>
                    <a:pt x="4586241" y="2467883"/>
                  </a:lnTo>
                  <a:cubicBezTo>
                    <a:pt x="4586241" y="2480406"/>
                    <a:pt x="4576089" y="2490558"/>
                    <a:pt x="4563567" y="2490558"/>
                  </a:cubicBezTo>
                  <a:lnTo>
                    <a:pt x="22674" y="2490558"/>
                  </a:lnTo>
                  <a:cubicBezTo>
                    <a:pt x="16661" y="2490558"/>
                    <a:pt x="10893" y="2488169"/>
                    <a:pt x="6641" y="2483917"/>
                  </a:cubicBezTo>
                  <a:cubicBezTo>
                    <a:pt x="2389" y="2479664"/>
                    <a:pt x="0" y="2473897"/>
                    <a:pt x="0" y="2467883"/>
                  </a:cubicBezTo>
                  <a:lnTo>
                    <a:pt x="0" y="22674"/>
                  </a:lnTo>
                  <a:cubicBezTo>
                    <a:pt x="0" y="16661"/>
                    <a:pt x="2389" y="10893"/>
                    <a:pt x="6641" y="6641"/>
                  </a:cubicBezTo>
                  <a:cubicBezTo>
                    <a:pt x="10893" y="2389"/>
                    <a:pt x="16661" y="0"/>
                    <a:pt x="22674" y="0"/>
                  </a:cubicBezTo>
                  <a:close/>
                </a:path>
              </a:pathLst>
            </a:custGeom>
            <a:ln w="19050" cap="rnd">
              <a:solidFill>
                <a:srgbClr val="162768"/>
              </a:solidFill>
              <a:prstDash val="solid"/>
              <a:round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4586241" cy="25381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8821860" y="109527"/>
            <a:ext cx="644280" cy="644280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E1943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8930173" y="210613"/>
            <a:ext cx="427653" cy="442109"/>
          </a:xfrm>
          <a:custGeom>
            <a:avLst/>
            <a:gdLst/>
            <a:ahLst/>
            <a:cxnLst/>
            <a:rect l="l" t="t" r="r" b="b"/>
            <a:pathLst>
              <a:path w="427653" h="442109">
                <a:moveTo>
                  <a:pt x="0" y="0"/>
                </a:moveTo>
                <a:lnTo>
                  <a:pt x="427654" y="0"/>
                </a:lnTo>
                <a:lnTo>
                  <a:pt x="427654" y="442109"/>
                </a:lnTo>
                <a:lnTo>
                  <a:pt x="0" y="44210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10" name="Group 10"/>
          <p:cNvGrpSpPr/>
          <p:nvPr/>
        </p:nvGrpSpPr>
        <p:grpSpPr>
          <a:xfrm>
            <a:off x="8821860" y="9533193"/>
            <a:ext cx="644280" cy="644280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E1943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13" name="Freeform 13"/>
          <p:cNvSpPr/>
          <p:nvPr/>
        </p:nvSpPr>
        <p:spPr>
          <a:xfrm>
            <a:off x="8930173" y="9634278"/>
            <a:ext cx="427653" cy="442109"/>
          </a:xfrm>
          <a:custGeom>
            <a:avLst/>
            <a:gdLst/>
            <a:ahLst/>
            <a:cxnLst/>
            <a:rect l="l" t="t" r="r" b="b"/>
            <a:pathLst>
              <a:path w="427653" h="442109">
                <a:moveTo>
                  <a:pt x="0" y="0"/>
                </a:moveTo>
                <a:lnTo>
                  <a:pt x="427654" y="0"/>
                </a:lnTo>
                <a:lnTo>
                  <a:pt x="427654" y="442109"/>
                </a:lnTo>
                <a:lnTo>
                  <a:pt x="0" y="44210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4" name="TextBox 14"/>
          <p:cNvSpPr txBox="1"/>
          <p:nvPr/>
        </p:nvSpPr>
        <p:spPr>
          <a:xfrm>
            <a:off x="1295400" y="1946604"/>
            <a:ext cx="9832431" cy="574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00"/>
              </a:lnSpc>
            </a:pPr>
            <a:r>
              <a:rPr lang="en-US" sz="4600" b="1" spc="-380" dirty="0">
                <a:solidFill>
                  <a:srgbClr val="1D348A"/>
                </a:solidFill>
                <a:latin typeface="Roca Two Heavy"/>
                <a:ea typeface="Roca Two Heavy"/>
                <a:cs typeface="Roca Two Heavy"/>
                <a:sym typeface="Roca Two Heavy"/>
              </a:rPr>
              <a:t>Planning Beats Heuristics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39299" y="2783213"/>
            <a:ext cx="16185642" cy="6889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599"/>
              </a:lnSpc>
              <a:spcBef>
                <a:spcPct val="0"/>
              </a:spcBef>
            </a:pPr>
            <a:r>
              <a:rPr lang="en-US" sz="3999" b="1" dirty="0">
                <a:solidFill>
                  <a:srgbClr val="1D348A"/>
                </a:solidFill>
                <a:latin typeface="TT Chocolates Bold"/>
                <a:ea typeface="TT Chocolates Bold"/>
                <a:cs typeface="TT Chocolates Bold"/>
                <a:sym typeface="TT Chocolates Bold"/>
              </a:rPr>
              <a:t> </a:t>
            </a:r>
          </a:p>
        </p:txBody>
      </p:sp>
      <p:sp>
        <p:nvSpPr>
          <p:cNvPr id="101" name="Body 101"/>
          <p:cNvSpPr txBox="1"/>
          <p:nvPr/>
        </p:nvSpPr>
        <p:spPr>
          <a:xfrm>
            <a:off x="1139299" y="3533490"/>
            <a:ext cx="9200000" cy="4504408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marL="342900" indent="-342900" algn="l">
              <a:lnSpc>
                <a:spcPct val="130000"/>
              </a:lnSpc>
              <a:spcAft>
                <a:spcPts val="26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20 random terrains, three agents: MDP, Greedy, Random</a:t>
            </a:r>
          </a:p>
          <a:p>
            <a:pPr marL="342900" indent="-342900" algn="l">
              <a:lnSpc>
                <a:spcPct val="130000"/>
              </a:lnSpc>
              <a:spcAft>
                <a:spcPts val="26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Only the MDP agent earns positive reward: +42 vs −124 vs −180</a:t>
            </a:r>
          </a:p>
          <a:p>
            <a:pPr marL="342900" indent="-342900" algn="l">
              <a:lnSpc>
                <a:spcPct val="130000"/>
              </a:lnSpc>
              <a:spcAft>
                <a:spcPts val="26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MDP survives 60% of missions - double the greedy baseline</a:t>
            </a:r>
          </a:p>
          <a:p>
            <a:pPr marL="342900" indent="-342900" algn="l">
              <a:lnSpc>
                <a:spcPct val="130000"/>
              </a:lnSpc>
              <a:spcAft>
                <a:spcPts val="26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Roughly 5× fewer hazard entries than either baseline</a:t>
            </a:r>
          </a:p>
        </p:txBody>
      </p:sp>
      <p:pic>
        <p:nvPicPr>
          <p:cNvPr id="102" name="Performance Plo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25429" y="3039647"/>
            <a:ext cx="6713383" cy="5370706"/>
          </a:xfrm>
          <a:prstGeom prst="rect">
            <a:avLst/>
          </a:prstGeom>
          <a:ln w="12700">
            <a:solidFill>
              <a:srgbClr val="162768"/>
            </a:solidFill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111" b="-15111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525429" y="484602"/>
            <a:ext cx="17413383" cy="9456337"/>
            <a:chOff x="0" y="0"/>
            <a:chExt cx="4586241" cy="249055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586241" cy="2490558"/>
            </a:xfrm>
            <a:custGeom>
              <a:avLst/>
              <a:gdLst/>
              <a:ahLst/>
              <a:cxnLst/>
              <a:rect l="l" t="t" r="r" b="b"/>
              <a:pathLst>
                <a:path w="4586241" h="2490558">
                  <a:moveTo>
                    <a:pt x="22674" y="0"/>
                  </a:moveTo>
                  <a:lnTo>
                    <a:pt x="4563567" y="0"/>
                  </a:lnTo>
                  <a:cubicBezTo>
                    <a:pt x="4569580" y="0"/>
                    <a:pt x="4575347" y="2389"/>
                    <a:pt x="4579600" y="6641"/>
                  </a:cubicBezTo>
                  <a:cubicBezTo>
                    <a:pt x="4583852" y="10893"/>
                    <a:pt x="4586241" y="16661"/>
                    <a:pt x="4586241" y="22674"/>
                  </a:cubicBezTo>
                  <a:lnTo>
                    <a:pt x="4586241" y="2467883"/>
                  </a:lnTo>
                  <a:cubicBezTo>
                    <a:pt x="4586241" y="2480406"/>
                    <a:pt x="4576089" y="2490558"/>
                    <a:pt x="4563567" y="2490558"/>
                  </a:cubicBezTo>
                  <a:lnTo>
                    <a:pt x="22674" y="2490558"/>
                  </a:lnTo>
                  <a:cubicBezTo>
                    <a:pt x="16661" y="2490558"/>
                    <a:pt x="10893" y="2488169"/>
                    <a:pt x="6641" y="2483917"/>
                  </a:cubicBezTo>
                  <a:cubicBezTo>
                    <a:pt x="2389" y="2479664"/>
                    <a:pt x="0" y="2473897"/>
                    <a:pt x="0" y="2467883"/>
                  </a:cubicBezTo>
                  <a:lnTo>
                    <a:pt x="0" y="22674"/>
                  </a:lnTo>
                  <a:cubicBezTo>
                    <a:pt x="0" y="16661"/>
                    <a:pt x="2389" y="10893"/>
                    <a:pt x="6641" y="6641"/>
                  </a:cubicBezTo>
                  <a:cubicBezTo>
                    <a:pt x="10893" y="2389"/>
                    <a:pt x="16661" y="0"/>
                    <a:pt x="22674" y="0"/>
                  </a:cubicBezTo>
                  <a:close/>
                </a:path>
              </a:pathLst>
            </a:custGeom>
            <a:ln w="19050" cap="rnd">
              <a:solidFill>
                <a:srgbClr val="162768"/>
              </a:solidFill>
              <a:prstDash val="solid"/>
              <a:round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4586241" cy="25381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8821860" y="109527"/>
            <a:ext cx="644280" cy="644280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E1943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8930173" y="210613"/>
            <a:ext cx="427653" cy="442109"/>
          </a:xfrm>
          <a:custGeom>
            <a:avLst/>
            <a:gdLst/>
            <a:ahLst/>
            <a:cxnLst/>
            <a:rect l="l" t="t" r="r" b="b"/>
            <a:pathLst>
              <a:path w="427653" h="442109">
                <a:moveTo>
                  <a:pt x="0" y="0"/>
                </a:moveTo>
                <a:lnTo>
                  <a:pt x="427654" y="0"/>
                </a:lnTo>
                <a:lnTo>
                  <a:pt x="427654" y="442109"/>
                </a:lnTo>
                <a:lnTo>
                  <a:pt x="0" y="44210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10" name="Group 10"/>
          <p:cNvGrpSpPr/>
          <p:nvPr/>
        </p:nvGrpSpPr>
        <p:grpSpPr>
          <a:xfrm>
            <a:off x="8821860" y="9533193"/>
            <a:ext cx="644280" cy="644280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E1943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13" name="Freeform 13"/>
          <p:cNvSpPr/>
          <p:nvPr/>
        </p:nvSpPr>
        <p:spPr>
          <a:xfrm>
            <a:off x="8930173" y="9634278"/>
            <a:ext cx="427653" cy="442109"/>
          </a:xfrm>
          <a:custGeom>
            <a:avLst/>
            <a:gdLst/>
            <a:ahLst/>
            <a:cxnLst/>
            <a:rect l="l" t="t" r="r" b="b"/>
            <a:pathLst>
              <a:path w="427653" h="442109">
                <a:moveTo>
                  <a:pt x="0" y="0"/>
                </a:moveTo>
                <a:lnTo>
                  <a:pt x="427654" y="0"/>
                </a:lnTo>
                <a:lnTo>
                  <a:pt x="427654" y="442109"/>
                </a:lnTo>
                <a:lnTo>
                  <a:pt x="0" y="44210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4" name="TextBox 14"/>
          <p:cNvSpPr txBox="1"/>
          <p:nvPr/>
        </p:nvSpPr>
        <p:spPr>
          <a:xfrm>
            <a:off x="1139299" y="2007329"/>
            <a:ext cx="9832431" cy="574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00"/>
              </a:lnSpc>
            </a:pPr>
            <a:r>
              <a:rPr lang="en-US" sz="4600" b="1" spc="-380" dirty="0">
                <a:solidFill>
                  <a:srgbClr val="1D348A"/>
                </a:solidFill>
                <a:latin typeface="Roca Two Heavy"/>
                <a:ea typeface="Roca Two Heavy"/>
                <a:cs typeface="Roca Two Heavy"/>
                <a:sym typeface="Roca Two Heavy"/>
              </a:rPr>
              <a:t>Conclusions &amp; Future Work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39299" y="2783213"/>
            <a:ext cx="16185642" cy="6889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599"/>
              </a:lnSpc>
              <a:spcBef>
                <a:spcPct val="0"/>
              </a:spcBef>
            </a:pPr>
            <a:r>
              <a:rPr lang="en-US" sz="3999" b="1" dirty="0">
                <a:solidFill>
                  <a:srgbClr val="1D348A"/>
                </a:solidFill>
                <a:latin typeface="TT Chocolates Bold"/>
                <a:ea typeface="TT Chocolates Bold"/>
                <a:cs typeface="TT Chocolates Bold"/>
                <a:sym typeface="TT Chocolates Bold"/>
              </a:rPr>
              <a:t> </a:t>
            </a:r>
          </a:p>
        </p:txBody>
      </p:sp>
      <p:sp>
        <p:nvSpPr>
          <p:cNvPr id="101" name="Body 101"/>
          <p:cNvSpPr txBox="1"/>
          <p:nvPr/>
        </p:nvSpPr>
        <p:spPr>
          <a:xfrm>
            <a:off x="1038129" y="3185631"/>
            <a:ext cx="9200000" cy="4875000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marL="342900" indent="-342900" algn="l">
              <a:lnSpc>
                <a:spcPct val="130000"/>
              </a:lnSpc>
              <a:spcAft>
                <a:spcPts val="22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Decision-theoretic planning decisively beats simple heuristics</a:t>
            </a:r>
          </a:p>
          <a:p>
            <a:pPr marL="342900" indent="-342900" algn="l">
              <a:lnSpc>
                <a:spcPct val="130000"/>
              </a:lnSpc>
              <a:spcAft>
                <a:spcPts val="22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Safety and science behavior emerge from the reward model alone</a:t>
            </a:r>
          </a:p>
          <a:p>
            <a:pPr marL="342900" indent="-342900" algn="l">
              <a:lnSpc>
                <a:spcPct val="130000"/>
              </a:lnSpc>
              <a:spcAft>
                <a:spcPts val="22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Future: risk-sensitive objectives, energy budgets, multi-rover teams</a:t>
            </a:r>
          </a:p>
          <a:p>
            <a:pPr marL="342900" indent="-342900" algn="l">
              <a:lnSpc>
                <a:spcPct val="130000"/>
              </a:lnSpc>
              <a:spcAft>
                <a:spcPts val="22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Everything is seeded and reproducible: python main.py</a:t>
            </a:r>
          </a:p>
        </p:txBody>
      </p:sp>
      <p:sp>
        <p:nvSpPr>
          <p:cNvPr id="102" name="Quote Card"/>
          <p:cNvSpPr/>
          <p:nvPr/>
        </p:nvSpPr>
        <p:spPr>
          <a:xfrm>
            <a:off x="10725429" y="4325000"/>
            <a:ext cx="6713383" cy="2800000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162768"/>
            </a:solidFill>
          </a:ln>
        </p:spPr>
        <p:txBody>
          <a:bodyPr wrap="square" lIns="228600" tIns="228600" rIns="228600" bIns="228600" anchor="ctr"/>
          <a:lstStyle/>
          <a:p>
            <a:pPr algn="ctr"/>
            <a:r>
              <a:rPr lang="en-US" sz="2800" b="1" i="1" dirty="0">
                <a:solidFill>
                  <a:srgbClr val="1D348A"/>
                </a:solidFill>
                <a:latin typeface="Cambria"/>
                <a:cs typeface="Cambria"/>
              </a:rPr>
              <a:t>“The reward </a:t>
            </a:r>
            <a:r>
              <a:rPr lang="en-US" sz="2800" b="1" i="1">
                <a:solidFill>
                  <a:srgbClr val="1D348A"/>
                </a:solidFill>
                <a:latin typeface="Cambria"/>
                <a:cs typeface="Cambria"/>
              </a:rPr>
              <a:t>model is </a:t>
            </a:r>
            <a:r>
              <a:rPr lang="en-US" sz="2800" b="1" i="1" dirty="0">
                <a:solidFill>
                  <a:srgbClr val="1D348A"/>
                </a:solidFill>
                <a:latin typeface="Cambria"/>
                <a:cs typeface="Cambria"/>
              </a:rPr>
              <a:t>the specification.”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111" b="-15111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437308" y="415332"/>
            <a:ext cx="17413383" cy="9456337"/>
            <a:chOff x="0" y="0"/>
            <a:chExt cx="4586241" cy="249055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586241" cy="2490558"/>
            </a:xfrm>
            <a:custGeom>
              <a:avLst/>
              <a:gdLst/>
              <a:ahLst/>
              <a:cxnLst/>
              <a:rect l="l" t="t" r="r" b="b"/>
              <a:pathLst>
                <a:path w="4586241" h="2490558">
                  <a:moveTo>
                    <a:pt x="22674" y="0"/>
                  </a:moveTo>
                  <a:lnTo>
                    <a:pt x="4563567" y="0"/>
                  </a:lnTo>
                  <a:cubicBezTo>
                    <a:pt x="4569580" y="0"/>
                    <a:pt x="4575347" y="2389"/>
                    <a:pt x="4579600" y="6641"/>
                  </a:cubicBezTo>
                  <a:cubicBezTo>
                    <a:pt x="4583852" y="10893"/>
                    <a:pt x="4586241" y="16661"/>
                    <a:pt x="4586241" y="22674"/>
                  </a:cubicBezTo>
                  <a:lnTo>
                    <a:pt x="4586241" y="2467883"/>
                  </a:lnTo>
                  <a:cubicBezTo>
                    <a:pt x="4586241" y="2480406"/>
                    <a:pt x="4576089" y="2490558"/>
                    <a:pt x="4563567" y="2490558"/>
                  </a:cubicBezTo>
                  <a:lnTo>
                    <a:pt x="22674" y="2490558"/>
                  </a:lnTo>
                  <a:cubicBezTo>
                    <a:pt x="16661" y="2490558"/>
                    <a:pt x="10893" y="2488169"/>
                    <a:pt x="6641" y="2483917"/>
                  </a:cubicBezTo>
                  <a:cubicBezTo>
                    <a:pt x="2389" y="2479664"/>
                    <a:pt x="0" y="2473897"/>
                    <a:pt x="0" y="2467883"/>
                  </a:cubicBezTo>
                  <a:lnTo>
                    <a:pt x="0" y="22674"/>
                  </a:lnTo>
                  <a:cubicBezTo>
                    <a:pt x="0" y="16661"/>
                    <a:pt x="2389" y="10893"/>
                    <a:pt x="6641" y="6641"/>
                  </a:cubicBezTo>
                  <a:cubicBezTo>
                    <a:pt x="10893" y="2389"/>
                    <a:pt x="16661" y="0"/>
                    <a:pt x="22674" y="0"/>
                  </a:cubicBezTo>
                  <a:close/>
                </a:path>
              </a:pathLst>
            </a:custGeom>
            <a:ln w="19050" cap="rnd">
              <a:solidFill>
                <a:srgbClr val="162768"/>
              </a:solidFill>
              <a:prstDash val="solid"/>
              <a:round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4586241" cy="25381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6606054" y="3920448"/>
            <a:ext cx="9895170" cy="59512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139"/>
              </a:lnSpc>
            </a:pPr>
            <a:r>
              <a:rPr lang="en-US" sz="27000" b="1" spc="-2052">
                <a:solidFill>
                  <a:srgbClr val="1D348A"/>
                </a:solidFill>
                <a:latin typeface="Roca Two Heavy"/>
                <a:ea typeface="Roca Two Heavy"/>
                <a:cs typeface="Roca Two Heavy"/>
                <a:sym typeface="Roca Two Heavy"/>
              </a:rPr>
              <a:t>Thank You!</a:t>
            </a:r>
          </a:p>
        </p:txBody>
      </p:sp>
      <p:sp>
        <p:nvSpPr>
          <p:cNvPr id="7" name="Freeform 7"/>
          <p:cNvSpPr/>
          <p:nvPr/>
        </p:nvSpPr>
        <p:spPr>
          <a:xfrm>
            <a:off x="7769451" y="6504738"/>
            <a:ext cx="2048459" cy="2117703"/>
          </a:xfrm>
          <a:custGeom>
            <a:avLst/>
            <a:gdLst/>
            <a:ahLst/>
            <a:cxnLst/>
            <a:rect l="l" t="t" r="r" b="b"/>
            <a:pathLst>
              <a:path w="2048459" h="2117703">
                <a:moveTo>
                  <a:pt x="0" y="0"/>
                </a:moveTo>
                <a:lnTo>
                  <a:pt x="2048459" y="0"/>
                </a:lnTo>
                <a:lnTo>
                  <a:pt x="2048459" y="2117703"/>
                </a:lnTo>
                <a:lnTo>
                  <a:pt x="0" y="211770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8" name="Group 8"/>
          <p:cNvGrpSpPr/>
          <p:nvPr/>
        </p:nvGrpSpPr>
        <p:grpSpPr>
          <a:xfrm>
            <a:off x="115168" y="4821360"/>
            <a:ext cx="644280" cy="644280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E1943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>
            <a:off x="223482" y="4922445"/>
            <a:ext cx="427653" cy="442109"/>
          </a:xfrm>
          <a:custGeom>
            <a:avLst/>
            <a:gdLst/>
            <a:ahLst/>
            <a:cxnLst/>
            <a:rect l="l" t="t" r="r" b="b"/>
            <a:pathLst>
              <a:path w="427653" h="442109">
                <a:moveTo>
                  <a:pt x="0" y="0"/>
                </a:moveTo>
                <a:lnTo>
                  <a:pt x="427653" y="0"/>
                </a:lnTo>
                <a:lnTo>
                  <a:pt x="427653" y="442110"/>
                </a:lnTo>
                <a:lnTo>
                  <a:pt x="0" y="44211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grpSp>
        <p:nvGrpSpPr>
          <p:cNvPr id="12" name="Group 12"/>
          <p:cNvGrpSpPr/>
          <p:nvPr/>
        </p:nvGrpSpPr>
        <p:grpSpPr>
          <a:xfrm>
            <a:off x="17528552" y="4821360"/>
            <a:ext cx="644280" cy="644280"/>
            <a:chOff x="0" y="0"/>
            <a:chExt cx="812800" cy="8128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E1943"/>
            </a:solidFill>
          </p:spPr>
        </p:sp>
        <p:sp>
          <p:nvSpPr>
            <p:cNvPr id="14" name="TextBox 14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15" name="Freeform 15"/>
          <p:cNvSpPr/>
          <p:nvPr/>
        </p:nvSpPr>
        <p:spPr>
          <a:xfrm>
            <a:off x="17636865" y="4922445"/>
            <a:ext cx="427653" cy="442109"/>
          </a:xfrm>
          <a:custGeom>
            <a:avLst/>
            <a:gdLst/>
            <a:ahLst/>
            <a:cxnLst/>
            <a:rect l="l" t="t" r="r" b="b"/>
            <a:pathLst>
              <a:path w="427653" h="442109">
                <a:moveTo>
                  <a:pt x="0" y="0"/>
                </a:moveTo>
                <a:lnTo>
                  <a:pt x="427653" y="0"/>
                </a:lnTo>
                <a:lnTo>
                  <a:pt x="427653" y="442110"/>
                </a:lnTo>
                <a:lnTo>
                  <a:pt x="0" y="44211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66</TotalTime>
  <Words>513</Words>
  <Application>Microsoft Office PowerPoint</Application>
  <PresentationFormat>Custom</PresentationFormat>
  <Paragraphs>72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Calibri</vt:lpstr>
      <vt:lpstr>Roca Two Bold</vt:lpstr>
      <vt:lpstr>Cambria</vt:lpstr>
      <vt:lpstr>TT Chocolates Bold</vt:lpstr>
      <vt:lpstr>Roca Two Heavy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Copy of novelty_cse465</dc:title>
  <dc:creator>Shefa</dc:creator>
  <cp:lastModifiedBy>SHEFA TABASSUM</cp:lastModifiedBy>
  <cp:revision>4</cp:revision>
  <dcterms:created xsi:type="dcterms:W3CDTF">2006-08-16T00:00:00Z</dcterms:created>
  <dcterms:modified xsi:type="dcterms:W3CDTF">2026-08-26T16:55:09Z</dcterms:modified>
  <dc:identifier>DAHTZKdpcTQ</dc:identifier>
</cp:coreProperties>
</file>